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6c8f720389476c" /><Relationship Type="http://schemas.openxmlformats.org/officeDocument/2006/relationships/extended-properties" Target="/docProps/app.xml" Id="R0f1b3fbce7f645d5" /><Relationship Type="http://schemas.openxmlformats.org/officeDocument/2006/relationships/officeDocument" Target="/ppt/presentation.xml" Id="Rca4a99cd82484b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f50601e3cb4336"/>
  </p:sldMasterIdLst>
  <p:notesMasterIdLst>
    <p:notesMasterId xmlns:r="http://schemas.openxmlformats.org/officeDocument/2006/relationships" r:id="R1343a57d3bf84f8f"/>
  </p:notesMasterIdLst>
  <p:sldIdLst>
    <p:sldId xmlns:r="http://schemas.openxmlformats.org/officeDocument/2006/relationships" id="256" r:id="R1b3e8c4d4ff848bc"/>
    <p:sldId xmlns:r="http://schemas.openxmlformats.org/officeDocument/2006/relationships" id="257" r:id="Rd97599995f78466d"/>
    <p:sldId xmlns:r="http://schemas.openxmlformats.org/officeDocument/2006/relationships" id="258" r:id="R828ccf611b7f43bd"/>
    <p:sldId xmlns:r="http://schemas.openxmlformats.org/officeDocument/2006/relationships" id="259" r:id="Rf7419ca24a9d4319"/>
    <p:sldId xmlns:r="http://schemas.openxmlformats.org/officeDocument/2006/relationships" id="260" r:id="Ra2c5cad0c3b542bb"/>
    <p:sldId xmlns:r="http://schemas.openxmlformats.org/officeDocument/2006/relationships" id="261" r:id="Rd20050fa38a54297"/>
    <p:sldId xmlns:r="http://schemas.openxmlformats.org/officeDocument/2006/relationships" id="262" r:id="R6b0e178c97234a4a"/>
    <p:sldId xmlns:r="http://schemas.openxmlformats.org/officeDocument/2006/relationships" id="263" r:id="Rf64973a7a53b47b4"/>
    <p:sldId xmlns:r="http://schemas.openxmlformats.org/officeDocument/2006/relationships" id="264" r:id="Rea26675cd9ae49cf"/>
    <p:sldId xmlns:r="http://schemas.openxmlformats.org/officeDocument/2006/relationships" id="265" r:id="R4d93c7f321674d03"/>
    <p:sldId xmlns:r="http://schemas.openxmlformats.org/officeDocument/2006/relationships" id="266" r:id="R79969ae05a3b4ad5"/>
    <p:sldId xmlns:r="http://schemas.openxmlformats.org/officeDocument/2006/relationships" id="267" r:id="Rccd94607657f4522"/>
    <p:sldId xmlns:r="http://schemas.openxmlformats.org/officeDocument/2006/relationships" id="268" r:id="R04e0dcfc75c04de8"/>
    <p:sldId xmlns:r="http://schemas.openxmlformats.org/officeDocument/2006/relationships" id="269" r:id="R13bf1737505d44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40dc976b1e4df8" /><Relationship Type="http://schemas.openxmlformats.org/officeDocument/2006/relationships/slideMaster" Target="/ppt/slideMasters/slideMaster1.xml" Id="R1ef50601e3cb4336" /><Relationship Type="http://schemas.openxmlformats.org/officeDocument/2006/relationships/notesMaster" Target="/ppt/notesMasters/notesMaster1.xml" Id="R1343a57d3bf84f8f" /><Relationship Type="http://schemas.openxmlformats.org/officeDocument/2006/relationships/presProps" Target="/ppt/presProps.xml" Id="R65f1563c7a1f4ac5" /><Relationship Type="http://schemas.openxmlformats.org/officeDocument/2006/relationships/tableStyles" Target="/ppt/tableStyles.xml" Id="Re1e19250f9da426b" /><Relationship Type="http://schemas.openxmlformats.org/officeDocument/2006/relationships/slide" Target="/ppt/slides/slide1.xml" Id="R1b3e8c4d4ff848bc" /><Relationship Type="http://schemas.openxmlformats.org/officeDocument/2006/relationships/slide" Target="/ppt/slides/slide2.xml" Id="Rd97599995f78466d" /><Relationship Type="http://schemas.openxmlformats.org/officeDocument/2006/relationships/slide" Target="/ppt/slides/slide3.xml" Id="R828ccf611b7f43bd" /><Relationship Type="http://schemas.openxmlformats.org/officeDocument/2006/relationships/slide" Target="/ppt/slides/slide4.xml" Id="Rf7419ca24a9d4319" /><Relationship Type="http://schemas.openxmlformats.org/officeDocument/2006/relationships/slide" Target="/ppt/slides/slide5.xml" Id="Ra2c5cad0c3b542bb" /><Relationship Type="http://schemas.openxmlformats.org/officeDocument/2006/relationships/slide" Target="/ppt/slides/slide6.xml" Id="Rd20050fa38a54297" /><Relationship Type="http://schemas.openxmlformats.org/officeDocument/2006/relationships/slide" Target="/ppt/slides/slide7.xml" Id="R6b0e178c97234a4a" /><Relationship Type="http://schemas.openxmlformats.org/officeDocument/2006/relationships/slide" Target="/ppt/slides/slide8.xml" Id="Rf64973a7a53b47b4" /><Relationship Type="http://schemas.openxmlformats.org/officeDocument/2006/relationships/slide" Target="/ppt/slides/slide9.xml" Id="Rea26675cd9ae49cf" /><Relationship Type="http://schemas.openxmlformats.org/officeDocument/2006/relationships/slide" Target="/ppt/slides/slide10.xml" Id="R4d93c7f321674d03" /><Relationship Type="http://schemas.openxmlformats.org/officeDocument/2006/relationships/slide" Target="/ppt/slides/slide11.xml" Id="R79969ae05a3b4ad5" /><Relationship Type="http://schemas.openxmlformats.org/officeDocument/2006/relationships/slide" Target="/ppt/slides/slide12.xml" Id="Rccd94607657f4522" /><Relationship Type="http://schemas.openxmlformats.org/officeDocument/2006/relationships/slide" Target="/ppt/slides/slide13.xml" Id="R04e0dcfc75c04de8" /><Relationship Type="http://schemas.openxmlformats.org/officeDocument/2006/relationships/slide" Target="/ppt/slides/slide14.xml" Id="R13bf1737505d44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a72daaacd34e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3d26c3d5674882" /><Relationship Type="http://schemas.openxmlformats.org/officeDocument/2006/relationships/notesMaster" Target="/ppt/notesMasters/notesMaster1.xml" Id="R902bbde6accc42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a0deaccf1a47cd" /><Relationship Type="http://schemas.openxmlformats.org/officeDocument/2006/relationships/notesMaster" Target="/ppt/notesMasters/notesMaster1.xml" Id="R577cd455e3eb45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dd17d36c514c9e" /><Relationship Type="http://schemas.openxmlformats.org/officeDocument/2006/relationships/notesMaster" Target="/ppt/notesMasters/notesMaster1.xml" Id="R4a9337250f4f4e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ae754c1344439f" /><Relationship Type="http://schemas.openxmlformats.org/officeDocument/2006/relationships/notesMaster" Target="/ppt/notesMasters/notesMaster1.xml" Id="R10ddb4330f9943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a0b61fc2654c9a" /><Relationship Type="http://schemas.openxmlformats.org/officeDocument/2006/relationships/notesMaster" Target="/ppt/notesMasters/notesMaster1.xml" Id="Ra2bb61a4933e4d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9521f2cc16469e" /><Relationship Type="http://schemas.openxmlformats.org/officeDocument/2006/relationships/notesMaster" Target="/ppt/notesMasters/notesMaster1.xml" Id="Rcec64ed95d7b46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eada6fd83046df" /><Relationship Type="http://schemas.openxmlformats.org/officeDocument/2006/relationships/notesMaster" Target="/ppt/notesMasters/notesMaster1.xml" Id="R340fb493b51849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ace8e9e4be4358" /><Relationship Type="http://schemas.openxmlformats.org/officeDocument/2006/relationships/notesMaster" Target="/ppt/notesMasters/notesMaster1.xml" Id="Rc95e0f6a3fc945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bc2d6ab4054dd7" /><Relationship Type="http://schemas.openxmlformats.org/officeDocument/2006/relationships/notesMaster" Target="/ppt/notesMasters/notesMaster1.xml" Id="Rf29b73d46e1c4f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91e8e271e844d3" /><Relationship Type="http://schemas.openxmlformats.org/officeDocument/2006/relationships/notesMaster" Target="/ppt/notesMasters/notesMaster1.xml" Id="R18f1e294b4bb48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b822abdfdd4987" /><Relationship Type="http://schemas.openxmlformats.org/officeDocument/2006/relationships/notesMaster" Target="/ppt/notesMasters/notesMaster1.xml" Id="Rf37b67dba50a48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090c38d5d14e73" /><Relationship Type="http://schemas.openxmlformats.org/officeDocument/2006/relationships/notesMaster" Target="/ppt/notesMasters/notesMaster1.xml" Id="R8c88e4a335a847c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147eb64d2634d6c" /><Relationship Type="http://schemas.openxmlformats.org/officeDocument/2006/relationships/notesMaster" Target="/ppt/notesMasters/notesMaster1.xml" Id="Rfdadadbb6eb448f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60fbd29498f41e1" /><Relationship Type="http://schemas.openxmlformats.org/officeDocument/2006/relationships/notesMaster" Target="/ppt/notesMasters/notesMaster1.xml" Id="Rdca6d65155534d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 ürünün mevcut kaynak koduna dayanır. Önerilen pilot ve yol haritası karar seçenekleridir.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package.json; README.md; src/app.ts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Yerel uygulama olarak çalışır; bulut sağlayıcı seçildiğinde modele veri gönderilir. Pilot bir öneridir, onaylanmış program değildir.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README.md; src/tools/index.ts; src/providers.ts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slayt ürünün hedeflediği iş akışı sorununu anlatır; ölçülmüş zaman kaybı veya kurumsal performans iddiası değildir.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src/agent.ts; src/tools/index.ts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Git araçları durum, fark ve geçmiş okumayı kapsar. Tarayıcı uyumlu kurulu Chrome veya Chromium gerektirir. Masaüstü kontrolü yalnızca Windows içindir.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src/tools/index.ts; src/tools/git.ts; src/tools/browser.ts; src/tools/computer.ts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Şema mantıksal akış içindir. T Bot araç sonuçlarını modele iletebilir. Kabuk kullanıcı yetkileriyle çalışma alanı dışına da erişebilir.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src/agent.ts; src/providers.ts; src/tools/shell.ts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liste öncelikli dört sağlayıcıyı gösterir; ek ve yerel seçenekler de bulunur. Model erişimi ve araç desteği modele ve hesaba bağlıdır; ortaklık veya tüm modeller için uyumluluk iddiası yoktur.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src/providers.ts; src/models.ts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Görsel temsilîdir, gerçek çalışma zamanı ekran kaydı değildir. OpenRouter için yeni anahtar kaydedilmeden önce anahtar uç noktasında doğrulanır.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src/app.ts; src/menu.ts; src/providers.ts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Planlama aşamasında sağlayıcıya araç tanımları verilmez. Bekleyen plan uygulama oturumunda bellektedir; uygulama adımında normal araç onayları geçerlidir.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src/workflows.ts; src/app.ts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Alt ajanlar bağımsız bağlamlarda araştırma yapar, değişiklikleri ana ajan üstlenir. /goal durum, duraklatma ve devam komutları sunar.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src/subagents.ts; src/workflows.ts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YOLO oturumluk bir seçenektir, varsayılan kapalıdır. Alt ajanların salt okunur sınırları korunur. Kabuk ve bilgisayar kontrolleri kullanıcının işletim sistemi izinleriyle çalışır.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src/app.ts; src/agent.ts; src/tools/index.ts; src/tools/shell.ts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Ekran görüntüleri modele iletilebilir. Windows güvenlik veya DPAPI başarısızlığında yeni kayıt hata verir. Diğer platformlarda kısıtlı dosyada şifrelenmemiş saklama olabilir.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src/secrets.ts; src/providers.ts; src/agent.ts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sunum mevcut kaynak ve belgelerin statik incelemesine dayanır. Güvenlik taraması başlatılamamıştır; tamamlanmış rapor veya ölçülmüş ROI iddiası yoktur.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docs/verification.md;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slayt öneridir, onaylanmış takvim veya performans hedefi değildir. Değerlendirme ölçütleri pilot onayından önce belirlenebilir.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Öneri; README.md; src/app.ts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İstenen karar pilot yetkisi ve sorumluların belirlenmesidir. Yol haritası öneridir ve henüz onaylanmış bütçe veya süre içermez.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Kaynak: Öneri; docs/verification.md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a1813f8f0a4f7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4e65c7f7b248a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585f74c47f495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7d742264394a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bd9a237618480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21b6ff63ea4c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270B89-BF17-4BAF-B113-1430E1EBC9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086550B-A6B0-415B-B8E7-B2B0598067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6F1E952-1402-4F8B-AED6-F6643487BA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FB159F-6253-4539-9D91-81969C5DF1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E42E400-5B0C-418D-AA4C-E3DF866C8A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BFBF2F1-9D9B-4A9E-97A9-6BD9DE71C4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C5AE74E-01A7-4DB2-98F0-7257016381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9F7EE77-BC3A-4EF0-939A-2A20642B44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0332E0-C03B-4F09-99D6-ED2C57EB36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2CADE88-6D15-4190-9136-EF8AF121AD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13af8344324c4e" /><Relationship Type="http://schemas.openxmlformats.org/officeDocument/2006/relationships/slideLayout" Target="/ppt/slideLayouts/slideLayout1.xml" Id="Rb41d98eae389406c" /><Relationship Type="http://schemas.openxmlformats.org/officeDocument/2006/relationships/slideLayout" Target="/ppt/slideLayouts/slideLayout2.xml" Id="R575102b265494dd3" /><Relationship Type="http://schemas.openxmlformats.org/officeDocument/2006/relationships/slideLayout" Target="/ppt/slideLayouts/slideLayout3.xml" Id="R823ff01e79d64d8d" /><Relationship Type="http://schemas.openxmlformats.org/officeDocument/2006/relationships/slideLayout" Target="/ppt/slideLayouts/slideLayout4.xml" Id="R6ce699721c074049" /><Relationship Type="http://schemas.openxmlformats.org/officeDocument/2006/relationships/slideLayout" Target="/ppt/slideLayouts/slideLayout5.xml" Id="R866a6544b6034bcb" /><Relationship Type="http://schemas.openxmlformats.org/officeDocument/2006/relationships/slideLayout" Target="/ppt/slideLayouts/slideLayout6.xml" Id="R9d215430ab4f46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1d98eae389406c"/>
    <p:sldLayoutId xmlns:r="http://schemas.openxmlformats.org/officeDocument/2006/relationships" id="2147483650" r:id="R575102b265494dd3"/>
    <p:sldLayoutId xmlns:r="http://schemas.openxmlformats.org/officeDocument/2006/relationships" id="2147483651" r:id="R823ff01e79d64d8d"/>
    <p:sldLayoutId xmlns:r="http://schemas.openxmlformats.org/officeDocument/2006/relationships" id="2147483652" r:id="R6ce699721c074049"/>
    <p:sldLayoutId xmlns:r="http://schemas.openxmlformats.org/officeDocument/2006/relationships" id="2147483653" r:id="R866a6544b6034bcb"/>
    <p:sldLayoutId xmlns:r="http://schemas.openxmlformats.org/officeDocument/2006/relationships" id="2147483654" r:id="R9d215430ab4f46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4b9561306d4e83" /><Relationship Type="http://schemas.openxmlformats.org/officeDocument/2006/relationships/image" Target="/ppt/media/image.png" Id="R1c5fe985010a4948" /><Relationship Type="http://schemas.openxmlformats.org/officeDocument/2006/relationships/notesSlide" Target="/ppt/notesSlides/notesSlide1.xml" Id="R5077093a491141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6cdbfdf1fa43af" /><Relationship Type="http://schemas.openxmlformats.org/officeDocument/2006/relationships/notesSlide" Target="/ppt/notesSlides/notesSlide2.xml" Id="R4da56122d3fe42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d9a98b1d8f4db2" /><Relationship Type="http://schemas.openxmlformats.org/officeDocument/2006/relationships/notesSlide" Target="/ppt/notesSlides/notesSlide3.xml" Id="R9955e208345d40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c0b146d4b04a8d" /><Relationship Type="http://schemas.openxmlformats.org/officeDocument/2006/relationships/notesSlide" Target="/ppt/notesSlides/notesSlide4.xml" Id="R46984f394d804b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1ea89374a64907" /><Relationship Type="http://schemas.openxmlformats.org/officeDocument/2006/relationships/notesSlide" Target="/ppt/notesSlides/notesSlide5.xml" Id="R54a0e1b556cb43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f25b55c90f45a1" /><Relationship Type="http://schemas.openxmlformats.org/officeDocument/2006/relationships/notesSlide" Target="/ppt/notesSlides/notesSlide6.xml" Id="R70d936cdfb1b4b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eede7466344fe8" /><Relationship Type="http://schemas.openxmlformats.org/officeDocument/2006/relationships/image" Target="/ppt/media/image2.png" Id="R1a7bcbc4842a481c" /><Relationship Type="http://schemas.openxmlformats.org/officeDocument/2006/relationships/notesSlide" Target="/ppt/notesSlides/notesSlide7.xml" Id="R80718adc16294b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f92b2b3681458b" /><Relationship Type="http://schemas.openxmlformats.org/officeDocument/2006/relationships/image" Target="/ppt/media/image3.png" Id="Rcffaf0a5ac6f4c2b" /><Relationship Type="http://schemas.openxmlformats.org/officeDocument/2006/relationships/notesSlide" Target="/ppt/notesSlides/notesSlide8.xml" Id="R8814a03896c64b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ac14a4dbe74926" /><Relationship Type="http://schemas.openxmlformats.org/officeDocument/2006/relationships/notesSlide" Target="/ppt/notesSlides/notesSlide9.xml" Id="R373a5be4379344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7b8f7212314985" /><Relationship Type="http://schemas.openxmlformats.org/officeDocument/2006/relationships/notesSlide" Target="/ppt/notesSlides/notesSlide10.xml" Id="R9cb511ddd21840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16fcafae474a75" /><Relationship Type="http://schemas.openxmlformats.org/officeDocument/2006/relationships/notesSlide" Target="/ppt/notesSlides/notesSlide11.xml" Id="R77fbd86ad81e4d5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7ae2b67184406d" /><Relationship Type="http://schemas.openxmlformats.org/officeDocument/2006/relationships/notesSlide" Target="/ppt/notesSlides/notesSlide12.xml" Id="R688049d0cfaa40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3621fd55344ef1" /><Relationship Type="http://schemas.openxmlformats.org/officeDocument/2006/relationships/notesSlide" Target="/ppt/notesSlides/notesSlide13.xml" Id="R76194765032c445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c2f4ee1a774f5d" /><Relationship Type="http://schemas.openxmlformats.org/officeDocument/2006/relationships/notesSlide" Target="/ppt/notesSlides/notesSlide14.xml" Id="R5fd99b18db6042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A2C3F-886D-4BE7-89DF-E1FA98918A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5fe985010a4948"/>
          <a:stretch xmlns:a="http://schemas.openxmlformats.org/drawingml/2006/main"/>
        </p:blipFill>
        <p:spPr>
          <a:xfrm xmlns:a="http://schemas.openxmlformats.org/drawingml/2006/main">
            <a:off x="685800" y="495597"/>
            <a:ext cx="1790700" cy="647107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0C316A79-A4D5-4D67-97AE-3A7BCD6A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 Bot</a:t>
            </a:r>
          </a:p>
        </p:txBody>
      </p:sp>
      <p:sp>
        <p:nvSpPr>
          <p:cNvPr id="3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4B59C3D6-14CC-471B-8BF7-3DF3C277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942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DCEBD8"/>
                </a:solidFill>
                <a:latin typeface="Arial"/>
                <a:ea typeface="Arial"/>
                <a:cs typeface="Arial"/>
              </a:rPr>
              <a:t>Yönetim kurulu değerlendirmesi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21B01D23-C91E-411C-9440-43D30135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95725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B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378ECB32-CA56-4BE1-B5C1-FA78DEEE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053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DCEBD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CEBD8"/>
                </a:solidFill>
                <a:latin typeface="Arial"/>
                <a:ea typeface="Arial"/>
                <a:cs typeface="Arial"/>
              </a:rPr>
              <a:t>Yerel çalışma ortamı için yapay zekâ ajanı</a:t>
            </a:r>
          </a:p>
        </p:txBody>
      </p:sp>
    </p:spTree>
    <p:extLst>
      <p:ext uri="{BB962C8B-B14F-4D97-AF65-F5344CB8AC3E}">
        <p14:creationId xmlns:p14="http://schemas.microsoft.com/office/powerpoint/2010/main" val="3668923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E175D0E8-A5A0-4F7A-A902-FB8F9EAF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YÖNETİM KURULU</a:t>
            </a:r>
          </a:p>
        </p:txBody>
      </p:sp>
      <p:sp>
        <p:nvSpPr>
          <p:cNvPr id="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67982A1C-AA43-4CBB-A122-0E7CD2AE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38200"/>
            <a:ext cx="10906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Yönetim özeti</a:t>
            </a:r>
          </a:p>
        </p:txBody>
      </p:sp>
      <p:sp>
        <p:nvSpPr>
          <p:cNvPr id="3" name="shape">
            <a:extLst xmlns:a="http://schemas.openxmlformats.org/drawingml/2006/main">
              <a:ext uri="{FF2B5EF4-FFF2-40B4-BE49-F238E27FC236}">
                <a16:creationId xmlns:a16="http://schemas.microsoft.com/office/drawing/2014/main" id="{EE5E64DB-12CD-463A-8F0E-F546F727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114C2ADA-0316-4ADC-BBC6-30CF9F1C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45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E5092840-A940-4A84-BA7B-0E940528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336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T Bot, çalışma alanındaki işleri terminalden yöneten bir yapay zekâ ajanıdır.</a:t>
            </a:r>
          </a:p>
        </p:txBody>
      </p:sp>
      <p:sp>
        <p:nvSpPr>
          <p:cNvPr id="6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CC0F74EE-C536-4B3F-A4C1-330A4DFF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004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8B82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A9FDD5BC-8F4E-483E-9D49-2A496F3E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400425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Tek çalışma ortamı</a:t>
            </a:r>
          </a:p>
        </p:txBody>
      </p:sp>
      <p:sp>
        <p:nvSpPr>
          <p:cNvPr id="8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4EB87912-B059-4F96-B076-459BDDE4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09950"/>
            <a:ext cx="619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Dosya, kabuk ve tarayıcı araçları tek akışta kullanılabilir.</a:t>
            </a:r>
          </a:p>
        </p:txBody>
      </p:sp>
      <p:sp>
        <p:nvSpPr>
          <p:cNvPr id="9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25A546DE-2D78-4A72-AA7B-8035563C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338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8B82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6B425F88-2DFE-462F-B7CB-FEE29174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13385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Seçilebilir model</a:t>
            </a:r>
          </a:p>
        </p:txBody>
      </p:sp>
      <p:sp>
        <p:nvSpPr>
          <p:cNvPr id="11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9C00ABA4-AE26-45EC-9EDB-4AB3F422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43375"/>
            <a:ext cx="619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Kullanıcı sağlayıcı ve modeli seçer. Erişim kendi hesabına bağlıdır.</a:t>
            </a:r>
          </a:p>
        </p:txBody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E7A2382A-79DC-490A-8B07-54067891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91125"/>
            <a:ext cx="1095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077B3E49-5E31-4515-9140-BBE36014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25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Karar önerisi</a:t>
            </a:r>
          </a:p>
        </p:txBody>
      </p:sp>
      <p:sp>
        <p:nvSpPr>
          <p:cNvPr id="14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ABBD97A9-71E0-4A59-A8C1-DE211593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81625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E7D1"/>
                </a:solidFill>
                <a:latin typeface="Arial"/>
                <a:ea typeface="Arial"/>
                <a:cs typeface="Arial"/>
              </a:rPr>
              <a:t>Sınırlı kapsamlı bir pilotun koşullarını belirleyin.</a:t>
            </a:r>
          </a:p>
        </p:txBody>
      </p:sp>
    </p:spTree>
    <p:extLst>
      <p:ext uri="{BB962C8B-B14F-4D97-AF65-F5344CB8AC3E}">
        <p14:creationId xmlns:p14="http://schemas.microsoft.com/office/powerpoint/2010/main" val="11077677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AD5A66E8-2484-4690-B380-845852E7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YÖNETİM KURULU</a:t>
            </a:r>
          </a:p>
        </p:txBody>
      </p:sp>
      <p:sp>
        <p:nvSpPr>
          <p:cNvPr id="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E53E872B-6167-4A27-B723-9087A6B8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38200"/>
            <a:ext cx="10906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Ele alınan çalışma sorunu</a:t>
            </a:r>
          </a:p>
        </p:txBody>
      </p:sp>
      <p:sp>
        <p:nvSpPr>
          <p:cNvPr id="3" name="shape">
            <a:extLst xmlns:a="http://schemas.openxmlformats.org/drawingml/2006/main">
              <a:ext uri="{FF2B5EF4-FFF2-40B4-BE49-F238E27FC236}">
                <a16:creationId xmlns:a16="http://schemas.microsoft.com/office/drawing/2014/main" id="{9AC2DBB9-A118-49D6-8F81-07A26B0C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07A66A25-71AE-4627-9998-B6393EC9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45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61D5F997-8E85-4934-BF72-3FF9E9F5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24075"/>
            <a:ext cx="1047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Tek bir istek, birden fazla araç ve karar gerektirebilir.</a:t>
            </a:r>
          </a:p>
        </p:txBody>
      </p:sp>
      <p:sp>
        <p:nvSpPr>
          <p:cNvPr id="6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FB555E8C-27BB-4CD2-9044-1085836E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Parçalı süreç</a:t>
            </a:r>
          </a:p>
        </p:txBody>
      </p:sp>
      <p:sp>
        <p:nvSpPr>
          <p:cNvPr id="7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879872FE-5457-4249-9F5D-D726BE39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24200"/>
            <a:ext cx="776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Dosyaları inceleme, değişiklik ve kontrol farklı adımlara dağılır.</a:t>
            </a:r>
          </a:p>
        </p:txBody>
      </p:sp>
      <p:sp>
        <p:nvSpPr>
          <p:cNvPr id="8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0287E45D-19D3-418B-895E-C8F7CFBA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Bağlam geçişi</a:t>
            </a:r>
          </a:p>
        </p:txBody>
      </p:sp>
      <p:sp>
        <p:nvSpPr>
          <p:cNvPr id="9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1B5A3807-CB80-40C8-89D4-45A6B1E1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24300"/>
            <a:ext cx="776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İnsan, model ve çalışma alanı arasında bilgi tekrar aktarılır.</a:t>
            </a:r>
          </a:p>
        </p:txBody>
      </p:sp>
      <p:sp>
        <p:nvSpPr>
          <p:cNvPr id="10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677DB344-10C4-435A-AAF7-40198DBA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Kontrol ihtiyacı</a:t>
            </a:r>
          </a:p>
        </p:txBody>
      </p:sp>
      <p:sp>
        <p:nvSpPr>
          <p:cNvPr id="11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361FBA95-A454-4CF6-8EEC-A30C188D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24400"/>
            <a:ext cx="776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Değişiklikler için yetki ve kullanıcı onayı görünür olmalıdır.</a:t>
            </a:r>
          </a:p>
        </p:txBody>
      </p:sp>
    </p:spTree>
    <p:extLst>
      <p:ext uri="{BB962C8B-B14F-4D97-AF65-F5344CB8AC3E}">
        <p14:creationId xmlns:p14="http://schemas.microsoft.com/office/powerpoint/2010/main" val="11996713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F6AFEA4A-B0F4-4116-B244-A0B748CB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YÖNETİM KURULU</a:t>
            </a:r>
          </a:p>
        </p:txBody>
      </p:sp>
      <p:sp>
        <p:nvSpPr>
          <p:cNvPr id="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F92987D9-90C7-4593-ABC0-B252D471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38200"/>
            <a:ext cx="10906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Ürün kapsamı</a:t>
            </a:r>
          </a:p>
        </p:txBody>
      </p:sp>
      <p:sp>
        <p:nvSpPr>
          <p:cNvPr id="3" name="shape">
            <a:extLst xmlns:a="http://schemas.openxmlformats.org/drawingml/2006/main">
              <a:ext uri="{FF2B5EF4-FFF2-40B4-BE49-F238E27FC236}">
                <a16:creationId xmlns:a16="http://schemas.microsoft.com/office/drawing/2014/main" id="{242FB6BE-9BF1-4040-96AF-5272E878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4148BE60-2033-4D17-9D5E-CB8ABAF3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45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DEBA501E-44C1-4DF3-B99E-D51DED56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Terminalden çalışan ajan, kullanıcının isteğini araçlarla ilerletir.</a:t>
            </a:r>
          </a:p>
        </p:txBody>
      </p:sp>
      <p:sp>
        <p:nvSpPr>
          <p:cNvPr id="6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6F7E7D3B-F195-4E8B-9463-21745ABC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766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8B82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5AFED680-1AE1-464F-AD26-90C082E3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27660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Çalışma alanı</a:t>
            </a:r>
          </a:p>
        </p:txBody>
      </p:sp>
      <p:sp>
        <p:nvSpPr>
          <p:cNvPr id="8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CB1C02C9-CC90-4ABB-9267-F0ADF84E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86125"/>
            <a:ext cx="619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Dosya okuma, arama ve kontrollü değişiklik.</a:t>
            </a:r>
          </a:p>
        </p:txBody>
      </p:sp>
      <p:sp>
        <p:nvSpPr>
          <p:cNvPr id="9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85D8F67C-A2AA-455A-AB54-C371A078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481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8B82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CAD7210F-856D-4A4D-8EF0-5596CD74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048125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İş akışı</a:t>
            </a:r>
          </a:p>
        </p:txBody>
      </p:sp>
      <p:sp>
        <p:nvSpPr>
          <p:cNvPr id="11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590BB157-4984-4CF1-AA3E-13C7B155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57650"/>
            <a:ext cx="619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Kabuk, Git durumu ve izole tarayıcı araçları.</a:t>
            </a:r>
          </a:p>
        </p:txBody>
      </p:sp>
      <p:sp>
        <p:nvSpPr>
          <p:cNvPr id="1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0D623D97-8A24-4061-B488-ABF6A068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196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8B82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A5D29562-95D7-44FE-B2FD-121264EC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81965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Masaüstü</a:t>
            </a:r>
          </a:p>
        </p:txBody>
      </p:sp>
      <p:sp>
        <p:nvSpPr>
          <p:cNvPr id="14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3BC0A4BD-D0EF-4221-9A46-26E64156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29175"/>
            <a:ext cx="619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Etkileşimli Windows masaüstü desteği.</a:t>
            </a:r>
          </a:p>
        </p:txBody>
      </p:sp>
    </p:spTree>
    <p:extLst>
      <p:ext uri="{BB962C8B-B14F-4D97-AF65-F5344CB8AC3E}">
        <p14:creationId xmlns:p14="http://schemas.microsoft.com/office/powerpoint/2010/main" val="15612691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60467588-BD92-443D-B152-69AF5BDB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YÖNETİM KURULU</a:t>
            </a:r>
          </a:p>
        </p:txBody>
      </p:sp>
      <p:sp>
        <p:nvSpPr>
          <p:cNvPr id="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290A5204-3BAF-4D18-8522-37A98F70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38200"/>
            <a:ext cx="10906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Yerel mimari ve veri akışı</a:t>
            </a:r>
          </a:p>
        </p:txBody>
      </p:sp>
      <p:sp>
        <p:nvSpPr>
          <p:cNvPr id="3" name="shape">
            <a:extLst xmlns:a="http://schemas.openxmlformats.org/drawingml/2006/main">
              <a:ext uri="{FF2B5EF4-FFF2-40B4-BE49-F238E27FC236}">
                <a16:creationId xmlns:a16="http://schemas.microsoft.com/office/drawing/2014/main" id="{73EA3D61-6314-46C0-A16E-EBF205F9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77289C04-08FB-40BD-9BA2-6368133D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45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1BBA08DF-C9FD-494A-878E-3AE65799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Uygulama yerelde çalışır. Model çağrıları ilgili sağlayıcıya gider.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B76AA4E8-E86E-43A1-9499-24FB9CFD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95625"/>
            <a:ext cx="2619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DF"/>
          </a:solidFill>
          <a:ln xmlns:a="http://schemas.openxmlformats.org/drawingml/2006/main" w="9525">
            <a:solidFill>
              <a:srgbClr val="C5D3BA"/>
            </a:solidFill>
            <a:prstDash val="solid"/>
          </a:ln>
        </p:spPr>
      </p:sp>
      <p:sp>
        <p:nvSpPr>
          <p:cNvPr id="7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55D1BF94-341F-4633-8AE6-966C52F1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Kullanıcı</a:t>
            </a:r>
          </a:p>
        </p:txBody>
      </p:sp>
      <p:sp>
        <p:nvSpPr>
          <p:cNvPr id="8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D5F79949-2029-42DA-9BFD-0A65E293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İstek ve onay</a:t>
            </a:r>
          </a:p>
        </p:txBody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10FBCDC4-5CAA-4601-A6CA-CBD2FA68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95625"/>
            <a:ext cx="2619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DF"/>
          </a:solidFill>
          <a:ln xmlns:a="http://schemas.openxmlformats.org/drawingml/2006/main" w="9525">
            <a:solidFill>
              <a:srgbClr val="C5D3BA"/>
            </a:solidFill>
            <a:prstDash val="solid"/>
          </a:ln>
        </p:spPr>
      </p:sp>
      <p:sp>
        <p:nvSpPr>
          <p:cNvPr id="10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C9884385-A54C-4D3C-996D-C6F2AE59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1945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T Bot</a:t>
            </a:r>
          </a:p>
        </p:txBody>
      </p:sp>
      <p:sp>
        <p:nvSpPr>
          <p:cNvPr id="11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6D4C01A7-5555-4413-A5B2-B3E311D4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576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Ajan ve oturum</a:t>
            </a:r>
          </a:p>
        </p:txBody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02389E69-77EB-4F2F-8944-ED9932A8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95625"/>
            <a:ext cx="2619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DF"/>
          </a:solidFill>
          <a:ln xmlns:a="http://schemas.openxmlformats.org/drawingml/2006/main" w="9525">
            <a:solidFill>
              <a:srgbClr val="C5D3BA"/>
            </a:solidFill>
            <a:prstDash val="solid"/>
          </a:ln>
        </p:spPr>
      </p:sp>
      <p:sp>
        <p:nvSpPr>
          <p:cNvPr id="13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980759BB-2D9D-424F-A5B6-196DD46C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1945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Sağlayıcı</a:t>
            </a:r>
          </a:p>
        </p:txBody>
      </p:sp>
      <p:sp>
        <p:nvSpPr>
          <p:cNvPr id="14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713C7694-3076-42EA-B8A7-EB68AFC6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576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Model yanıtı</a:t>
            </a:r>
          </a:p>
        </p:txBody>
      </p:sp>
      <p:sp>
        <p:nvSpPr>
          <p:cNvPr id="15" name="shape">
            <a:extLst xmlns:a="http://schemas.openxmlformats.org/drawingml/2006/main">
              <a:ext uri="{FF2B5EF4-FFF2-40B4-BE49-F238E27FC236}">
                <a16:creationId xmlns:a16="http://schemas.microsoft.com/office/drawing/2014/main" id="{361F2A86-CC05-42D0-A6BB-29FE569D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67250"/>
            <a:ext cx="2619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DF"/>
          </a:solidFill>
          <a:ln xmlns:a="http://schemas.openxmlformats.org/drawingml/2006/main" w="9525">
            <a:solidFill>
              <a:srgbClr val="C5D3BA"/>
            </a:solidFill>
            <a:prstDash val="solid"/>
          </a:ln>
        </p:spPr>
      </p:sp>
      <p:sp>
        <p:nvSpPr>
          <p:cNvPr id="16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B6684609-BB53-45A2-9D84-D9E746E7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79107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Araçlar</a:t>
            </a:r>
          </a:p>
        </p:txBody>
      </p:sp>
      <p:sp>
        <p:nvSpPr>
          <p:cNvPr id="17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E42BBBEE-6C5A-475A-BE0E-9736307D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22922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Yerel çalışma alanı</a:t>
            </a:r>
          </a:p>
        </p:txBody>
      </p:sp>
      <p:sp>
        <p:nvSpPr>
          <p:cNvPr id="18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09A4D162-5ADF-4E39-B7FF-D9D40B2C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05175"/>
            <a:ext cx="704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1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ctr">
              <a:defRPr sz="31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ctr">
              <a:defRPr sz="31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ctr">
              <a:defRPr sz="31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ctr">
              <a:defRPr sz="31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ctr">
              <a:defRPr sz="31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ctr">
              <a:defRPr sz="31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ctr">
              <a:defRPr sz="31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ctr">
              <a:defRPr sz="31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ctr">
              <a:defRPr sz="31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19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D64BC437-80CF-49B1-A677-4445E1E8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305175"/>
            <a:ext cx="704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1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ctr">
              <a:defRPr sz="31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ctr">
              <a:defRPr sz="31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ctr">
              <a:defRPr sz="31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ctr">
              <a:defRPr sz="31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ctr">
              <a:defRPr sz="31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ctr">
              <a:defRPr sz="31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ctr">
              <a:defRPr sz="31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ctr">
              <a:defRPr sz="31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ctr">
              <a:defRPr sz="31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20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896AA404-D5F4-4F97-85D6-DEAC6E13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957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1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ctr">
              <a:defRPr sz="31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ctr">
              <a:defRPr sz="31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ctr">
              <a:defRPr sz="31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ctr">
              <a:defRPr sz="31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ctr">
              <a:defRPr sz="31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ctr">
              <a:defRPr sz="31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ctr">
              <a:defRPr sz="31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ctr">
              <a:defRPr sz="31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ctr">
              <a:defRPr sz="31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↕</a:t>
            </a:r>
          </a:p>
        </p:txBody>
      </p:sp>
      <p:sp>
        <p:nvSpPr>
          <p:cNvPr id="21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ADAF7C68-384C-403C-99BD-425FD432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102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454"/>
                </a:solidFill>
                <a:latin typeface="Arial"/>
                <a:ea typeface="Arial"/>
                <a:cs typeface="Arial"/>
              </a:rPr>
              <a:t>Konuşma ve seçilen araç sonuçları T Bot üzerinden sağlayıcıya gider.</a:t>
            </a:r>
          </a:p>
        </p:txBody>
      </p:sp>
    </p:spTree>
    <p:extLst>
      <p:ext uri="{BB962C8B-B14F-4D97-AF65-F5344CB8AC3E}">
        <p14:creationId xmlns:p14="http://schemas.microsoft.com/office/powerpoint/2010/main" val="10104205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018C838E-7808-40C4-ABEC-84676FAF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YÖNETİM KURULU</a:t>
            </a:r>
          </a:p>
        </p:txBody>
      </p:sp>
      <p:sp>
        <p:nvSpPr>
          <p:cNvPr id="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A97358E9-52B4-45F3-8A03-37C684BF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38200"/>
            <a:ext cx="10906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Sağlayıcı ve model seçimi</a:t>
            </a:r>
          </a:p>
        </p:txBody>
      </p:sp>
      <p:sp>
        <p:nvSpPr>
          <p:cNvPr id="3" name="shape">
            <a:extLst xmlns:a="http://schemas.openxmlformats.org/drawingml/2006/main">
              <a:ext uri="{FF2B5EF4-FFF2-40B4-BE49-F238E27FC236}">
                <a16:creationId xmlns:a16="http://schemas.microsoft.com/office/drawing/2014/main" id="{64B3DF8C-65AA-4429-AAA5-846CAC83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D1DDBCD4-EC5F-4C15-8A51-5A407D24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45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279B5E4B-81EC-4EC6-951A-4D28AA19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Kullanıcı kendi sağlayıcısını, modelini ve anahtarını seçer.</a:t>
            </a:r>
          </a:p>
        </p:txBody>
      </p:sp>
      <p:sp>
        <p:nvSpPr>
          <p:cNvPr id="6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8B3A8468-1EB8-4158-B971-D5D3E872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Google Gemini</a:t>
            </a:r>
          </a:p>
        </p:txBody>
      </p:sp>
      <p:sp>
        <p:nvSpPr>
          <p:cNvPr id="7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FC6FCBFB-B5B2-4849-A781-5EE3C5DD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289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Google hesabı ve seçilen model</a:t>
            </a:r>
          </a:p>
        </p:txBody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8FF1D2E7-5D58-4AE7-B238-ADE4A974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64ED63CD-E67C-41B8-82B6-9CD2CB8C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OpenAI</a:t>
            </a:r>
          </a:p>
        </p:txBody>
      </p:sp>
      <p:sp>
        <p:nvSpPr>
          <p:cNvPr id="10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683DC98F-B53C-4632-B716-8DC6ABD8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6712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OpenAI hesabı ve seçilen model</a:t>
            </a:r>
          </a:p>
        </p:txBody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DF7C3341-0916-4866-8869-84DA1590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D870817C-2724-4722-BAC7-421FA20F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Anthropic</a:t>
            </a:r>
          </a:p>
        </p:txBody>
      </p:sp>
      <p:sp>
        <p:nvSpPr>
          <p:cNvPr id="13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83744491-2820-4600-8C96-3F09F1E2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05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Anthropic hesabı ve seçilen model</a:t>
            </a:r>
          </a:p>
        </p:txBody>
      </p:sp>
      <p:sp>
        <p:nvSpPr>
          <p:cNvPr id="14" name="shape">
            <a:extLst xmlns:a="http://schemas.openxmlformats.org/drawingml/2006/main">
              <a:ext uri="{FF2B5EF4-FFF2-40B4-BE49-F238E27FC236}">
                <a16:creationId xmlns:a16="http://schemas.microsoft.com/office/drawing/2014/main" id="{3C6545BC-4009-4036-9316-73D535A6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9449F754-B981-4D78-A061-295ADC2C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434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OpenRouter</a:t>
            </a:r>
          </a:p>
        </p:txBody>
      </p:sp>
      <p:sp>
        <p:nvSpPr>
          <p:cNvPr id="16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A2679563-5062-465E-9532-054D6110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4347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Erişilen model ve sağlayıcı koşulları</a:t>
            </a:r>
          </a:p>
        </p:txBody>
      </p:sp>
      <p:sp>
        <p:nvSpPr>
          <p:cNvPr id="17" name="shape">
            <a:extLst xmlns:a="http://schemas.openxmlformats.org/drawingml/2006/main">
              <a:ext uri="{FF2B5EF4-FFF2-40B4-BE49-F238E27FC236}">
                <a16:creationId xmlns:a16="http://schemas.microsoft.com/office/drawing/2014/main" id="{B7F500B3-7334-45A9-BB88-D6569798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3877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B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015932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EECF4ADB-A6CC-4047-9BD8-F845B753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YÖNETİM KURULU</a:t>
            </a:r>
          </a:p>
        </p:txBody>
      </p:sp>
      <p:sp>
        <p:nvSpPr>
          <p:cNvPr id="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45BE27D6-3BB8-42DE-AB1B-797C1EBD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38200"/>
            <a:ext cx="10906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Başlangıç ve kurulum</a:t>
            </a:r>
          </a:p>
        </p:txBody>
      </p:sp>
      <p:sp>
        <p:nvSpPr>
          <p:cNvPr id="3" name="shape">
            <a:extLst xmlns:a="http://schemas.openxmlformats.org/drawingml/2006/main">
              <a:ext uri="{FF2B5EF4-FFF2-40B4-BE49-F238E27FC236}">
                <a16:creationId xmlns:a16="http://schemas.microsoft.com/office/drawing/2014/main" id="{49E073B3-C128-4213-BFB8-4D326C63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D73F348C-0B26-4CA9-B8E0-E4C05396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45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E690A992-27B5-4E4A-B57C-C21A4D1A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Sağlayıcı ve model menüden seçilir. API anahtarı gizli girilir.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5EF453-423F-4DF7-8F85-E57B785BF2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7bcbc4842a481c"/>
          <a:stretch xmlns:a="http://schemas.openxmlformats.org/drawingml/2006/main"/>
        </p:blipFill>
        <p:spPr>
          <a:xfrm xmlns:a="http://schemas.openxmlformats.org/drawingml/2006/main">
            <a:off x="1454150" y="2790825"/>
            <a:ext cx="6045200" cy="3238500"/>
          </a:xfrm>
          <a:prstGeom xmlns:a="http://schemas.openxmlformats.org/drawingml/2006/main" prst="rect">
            <a:avLst/>
          </a:prstGeom>
        </p:spPr>
      </p:pic>
      <p:sp>
        <p:nvSpPr>
          <p:cNvPr id="7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3D8EA288-4ECD-4957-95FF-31A70767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454"/>
                </a:solidFill>
                <a:latin typeface="Arial"/>
                <a:ea typeface="Arial"/>
                <a:cs typeface="Arial"/>
              </a:rPr>
              <a:t>Temsili ekran</a:t>
            </a:r>
          </a:p>
        </p:txBody>
      </p:sp>
      <p:sp>
        <p:nvSpPr>
          <p:cNvPr id="8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92C983F9-FA67-47CC-87D7-C8404838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03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Kullanıcı akışı</a:t>
            </a:r>
          </a:p>
        </p:txBody>
      </p:sp>
      <p:sp>
        <p:nvSpPr>
          <p:cNvPr id="9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5848AD90-A93A-47D2-83E7-E913A8BD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76625"/>
            <a:ext cx="2571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Seçim menüsü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Gizli anahtar girişi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Kaydedilmiş ayarlar</a:t>
            </a:r>
          </a:p>
        </p:txBody>
      </p:sp>
    </p:spTree>
    <p:extLst>
      <p:ext uri="{BB962C8B-B14F-4D97-AF65-F5344CB8AC3E}">
        <p14:creationId xmlns:p14="http://schemas.microsoft.com/office/powerpoint/2010/main" val="17305594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4B8D7CCA-CA74-4E06-8260-C9EE972C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YÖNETİM KURULU</a:t>
            </a:r>
          </a:p>
        </p:txBody>
      </p:sp>
      <p:sp>
        <p:nvSpPr>
          <p:cNvPr id="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440ADC88-51FE-4961-9389-D28EE56B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38200"/>
            <a:ext cx="10906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Plan ve kontrollü uygulama</a:t>
            </a:r>
          </a:p>
        </p:txBody>
      </p:sp>
      <p:sp>
        <p:nvSpPr>
          <p:cNvPr id="3" name="shape">
            <a:extLst xmlns:a="http://schemas.openxmlformats.org/drawingml/2006/main">
              <a:ext uri="{FF2B5EF4-FFF2-40B4-BE49-F238E27FC236}">
                <a16:creationId xmlns:a16="http://schemas.microsoft.com/office/drawing/2014/main" id="{AAF3CAB4-C687-4E76-B952-5FBFB9F7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1C1FB0BA-6538-426B-B6DC-FCC58D36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45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FCC8EF46-69BD-4005-926B-C6260B14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669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Plan önce oluşturulur, uygulama ayrı bir kullanıcı komutuyla başlar.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7A803-3047-4139-9E1A-2E0A445EB9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faf0a5ac6f4c2b"/>
          <a:stretch xmlns:a="http://schemas.openxmlformats.org/drawingml/2006/main"/>
        </p:blipFill>
        <p:spPr>
          <a:xfrm xmlns:a="http://schemas.openxmlformats.org/drawingml/2006/main">
            <a:off x="1597025" y="2819400"/>
            <a:ext cx="6045200" cy="3238500"/>
          </a:xfrm>
          <a:prstGeom xmlns:a="http://schemas.openxmlformats.org/drawingml/2006/main" prst="rect">
            <a:avLst/>
          </a:prstGeom>
        </p:spPr>
      </p:pic>
      <p:sp>
        <p:nvSpPr>
          <p:cNvPr id="7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76F0A180-7C45-48B7-B936-C4BDCFFF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26454"/>
                </a:solidFill>
                <a:latin typeface="Arial"/>
                <a:ea typeface="Arial"/>
                <a:cs typeface="Arial"/>
              </a:rPr>
              <a:t>Temsili ekran</a:t>
            </a:r>
          </a:p>
        </p:txBody>
      </p:sp>
      <p:sp>
        <p:nvSpPr>
          <p:cNvPr id="8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70D33BB1-96E4-468C-9B8D-F6EB939B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52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9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0AD71BCA-A97E-4353-AB8D-C0E12A1D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62325"/>
            <a:ext cx="2428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Araç kullanılmadan öneri üretilir.</a:t>
            </a:r>
          </a:p>
        </p:txBody>
      </p:sp>
      <p:sp>
        <p:nvSpPr>
          <p:cNvPr id="10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0C2BBC09-EBBA-41D0-8E2A-EA66E929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05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Uygulama</a:t>
            </a:r>
          </a:p>
        </p:txBody>
      </p:sp>
      <p:sp>
        <p:nvSpPr>
          <p:cNvPr id="11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CA393F60-757C-4228-8FD4-AE70E268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714875"/>
            <a:ext cx="2428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/plan apply ile aynı oturumda başlar.</a:t>
            </a:r>
          </a:p>
        </p:txBody>
      </p:sp>
    </p:spTree>
    <p:extLst>
      <p:ext uri="{BB962C8B-B14F-4D97-AF65-F5344CB8AC3E}">
        <p14:creationId xmlns:p14="http://schemas.microsoft.com/office/powerpoint/2010/main" val="16502437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F43A91C5-52CE-45C2-B231-B631023E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YÖNETİM KURULU</a:t>
            </a:r>
          </a:p>
        </p:txBody>
      </p:sp>
      <p:sp>
        <p:nvSpPr>
          <p:cNvPr id="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53B6BF76-D0CD-4898-BA05-6384E16F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38200"/>
            <a:ext cx="10906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Hedefler ve alt ajanlar</a:t>
            </a:r>
          </a:p>
        </p:txBody>
      </p:sp>
      <p:sp>
        <p:nvSpPr>
          <p:cNvPr id="3" name="shape">
            <a:extLst xmlns:a="http://schemas.openxmlformats.org/drawingml/2006/main">
              <a:ext uri="{FF2B5EF4-FFF2-40B4-BE49-F238E27FC236}">
                <a16:creationId xmlns:a16="http://schemas.microsoft.com/office/drawing/2014/main" id="{19779DEE-59EB-4B8D-A4D2-5B5CA016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37583A09-2063-425B-B48F-7E9E4272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45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C2F78E6D-9FB7-41F1-9216-D0BFABE0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Uzun işler, hedef kaydı ve sınırlı araştırma adımlarıyla yönetilir.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227284A8-CEAD-4792-9E10-DE265652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762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F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486E835A-7187-495C-BA04-B624E78F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47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Hedef</a:t>
            </a:r>
          </a:p>
        </p:txBody>
      </p:sp>
      <p:sp>
        <p:nvSpPr>
          <p:cNvPr id="8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DD641503-A540-47F8-B103-5B2000E0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Durum kaydedilir. Çalışma sınırlı bir tur olarak yürür. Tamamlanmayı kullanıcı işaretler.</a:t>
            </a:r>
          </a:p>
        </p:txBody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C851F3EA-0FB0-43BC-AD9F-1FABCF17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4762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16D0EDD4-97FE-451F-A1E9-C7160B24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147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Alt ajanlar</a:t>
            </a:r>
          </a:p>
        </p:txBody>
      </p:sp>
      <p:sp>
        <p:nvSpPr>
          <p:cNvPr id="11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90FE57FA-11C6-4028-BD09-A8DCCD2E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57625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Seçilen modelle en fazla üç salt okunur araştırma yapılır. Sonuçları ana ajan değerlendirir.</a:t>
            </a:r>
          </a:p>
        </p:txBody>
      </p:sp>
      <p:sp>
        <p:nvSpPr>
          <p:cNvPr id="1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6A2BC4BF-BDE0-474B-BA0B-EB44925C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388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454"/>
                </a:solidFill>
                <a:latin typeface="Arial"/>
                <a:ea typeface="Arial"/>
                <a:cs typeface="Arial"/>
              </a:rPr>
              <a:t>Eşzamanlı çalışan araştırma sınırı: iki</a:t>
            </a:r>
          </a:p>
        </p:txBody>
      </p:sp>
    </p:spTree>
    <p:extLst>
      <p:ext uri="{BB962C8B-B14F-4D97-AF65-F5344CB8AC3E}">
        <p14:creationId xmlns:p14="http://schemas.microsoft.com/office/powerpoint/2010/main" val="4691423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EBF91709-F593-4487-AFD6-4A0F2FFF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YÖNETİM KURULU</a:t>
            </a:r>
          </a:p>
        </p:txBody>
      </p:sp>
      <p:sp>
        <p:nvSpPr>
          <p:cNvPr id="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FB2219D2-5767-4DB1-838A-7727FD6C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38200"/>
            <a:ext cx="10906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Onay ve YOLO modu</a:t>
            </a:r>
          </a:p>
        </p:txBody>
      </p:sp>
      <p:sp>
        <p:nvSpPr>
          <p:cNvPr id="3" name="shape">
            <a:extLst xmlns:a="http://schemas.openxmlformats.org/drawingml/2006/main">
              <a:ext uri="{FF2B5EF4-FFF2-40B4-BE49-F238E27FC236}">
                <a16:creationId xmlns:a16="http://schemas.microsoft.com/office/drawing/2014/main" id="{34C2AE16-B653-4C8A-9A70-34B9030B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A18926D6-0D39-40E3-A521-5C6D93B1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45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32F7C714-723D-4241-97B2-D9C9E043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Varsayılan akış, değişiklik yapabilen işlemlerde kullanıcı onayı ister.</a:t>
            </a:r>
          </a:p>
        </p:txBody>
      </p:sp>
      <p:sp>
        <p:nvSpPr>
          <p:cNvPr id="6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3878FD4D-82D0-436E-9120-6F5DD7BA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Onaylı mod</a:t>
            </a:r>
          </a:p>
        </p:txBody>
      </p:sp>
      <p:sp>
        <p:nvSpPr>
          <p:cNvPr id="7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C05D7223-C701-4106-B4DE-325594EA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09925"/>
            <a:ext cx="776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Araç işlemleri için kullanıcıdan seçim beklenir.</a:t>
            </a:r>
          </a:p>
        </p:txBody>
      </p:sp>
      <p:sp>
        <p:nvSpPr>
          <p:cNvPr id="8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C64080E1-8FA7-48B8-9EB2-FE59E8C4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YOLO modu</a:t>
            </a:r>
          </a:p>
        </p:txBody>
      </p:sp>
      <p:sp>
        <p:nvSpPr>
          <p:cNvPr id="9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58B2FD28-C6EF-4E2E-AFAE-A9F4FA5D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10025"/>
            <a:ext cx="776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Oturum boyunca araç onayları otomatik verilir.</a:t>
            </a:r>
          </a:p>
        </p:txBody>
      </p:sp>
      <p:sp>
        <p:nvSpPr>
          <p:cNvPr id="10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17BDA0F9-FC04-47A6-B0A4-AA7E8796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Kontrol sınırı</a:t>
            </a:r>
          </a:p>
        </p:txBody>
      </p:sp>
      <p:sp>
        <p:nvSpPr>
          <p:cNvPr id="11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24E972ED-27FB-40FE-8093-844F02BF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0125"/>
            <a:ext cx="776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Planı uygulamak yine açık /plan apply komutu gerektirir.</a:t>
            </a:r>
          </a:p>
        </p:txBody>
      </p:sp>
      <p:sp>
        <p:nvSpPr>
          <p:cNvPr id="1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4D0EF587-384E-4AAA-9F26-D8B7E9C6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645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454"/>
                </a:solidFill>
                <a:latin typeface="Arial"/>
                <a:ea typeface="Arial"/>
                <a:cs typeface="Arial"/>
              </a:rPr>
              <a:t>Kabuk, kullanıcının yetkileriyle çalışma alanı dışına erişebilir.</a:t>
            </a:r>
          </a:p>
        </p:txBody>
      </p:sp>
    </p:spTree>
    <p:extLst>
      <p:ext uri="{BB962C8B-B14F-4D97-AF65-F5344CB8AC3E}">
        <p14:creationId xmlns:p14="http://schemas.microsoft.com/office/powerpoint/2010/main" val="13867671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A60AEB76-3AF3-4B46-BB43-18B39378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YÖNETİM KURULU</a:t>
            </a:r>
          </a:p>
        </p:txBody>
      </p:sp>
      <p:sp>
        <p:nvSpPr>
          <p:cNvPr id="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C80FAEF5-27B2-4E86-AEF3-04B40B4C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38200"/>
            <a:ext cx="10906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Veri, anahtar ve maliyet</a:t>
            </a:r>
          </a:p>
        </p:txBody>
      </p:sp>
      <p:sp>
        <p:nvSpPr>
          <p:cNvPr id="3" name="shape">
            <a:extLst xmlns:a="http://schemas.openxmlformats.org/drawingml/2006/main">
              <a:ext uri="{FF2B5EF4-FFF2-40B4-BE49-F238E27FC236}">
                <a16:creationId xmlns:a16="http://schemas.microsoft.com/office/drawing/2014/main" id="{E9FECC66-8908-4078-90B1-B4E54836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07004637-8DBA-48D7-9AC8-0607363D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45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3130998C-ECEE-430E-8115-44E3AC3C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860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8B82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FF74597A-32CF-4B7E-A4B6-CAE64BBD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28600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Veri paylaşımı</a:t>
            </a:r>
          </a:p>
        </p:txBody>
      </p:sp>
      <p:sp>
        <p:nvSpPr>
          <p:cNvPr id="7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3CCB3535-AD79-427D-884B-127AD3CC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95525"/>
            <a:ext cx="619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İlgili dosya ve araç çıktıları seçilen modele gönderilebilir.</a:t>
            </a:r>
          </a:p>
        </p:txBody>
      </p:sp>
      <p:sp>
        <p:nvSpPr>
          <p:cNvPr id="8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F537B99F-F30F-4FA3-BC30-D6F9494C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385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8B82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B325F784-E029-4B54-BF5C-01513BBE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23850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Anahtar saklama</a:t>
            </a:r>
          </a:p>
        </p:txBody>
      </p:sp>
      <p:sp>
        <p:nvSpPr>
          <p:cNvPr id="10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15E19308-4AA5-40A9-8ADD-9E19A890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48025"/>
            <a:ext cx="619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Windows’ta yeni kayıt için DPAPI ve dizin güvenliği gerekir.</a:t>
            </a:r>
          </a:p>
        </p:txBody>
      </p:sp>
      <p:sp>
        <p:nvSpPr>
          <p:cNvPr id="11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DB07FC31-1A69-4071-868F-BFEA03BB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910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8B82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DC1942B5-2E13-4111-BF28-2D9EC8E2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19100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Maliyet</a:t>
            </a:r>
          </a:p>
        </p:txBody>
      </p:sp>
      <p:sp>
        <p:nvSpPr>
          <p:cNvPr id="13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6F3B6BAD-CA8B-4A4C-B750-264FE5AC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00525"/>
            <a:ext cx="619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Model çağrılarının maliyeti sağlayıcı hesabı ve kullanıma bağlıdır.</a:t>
            </a:r>
          </a:p>
        </p:txBody>
      </p:sp>
      <p:sp>
        <p:nvSpPr>
          <p:cNvPr id="14" name="shape">
            <a:extLst xmlns:a="http://schemas.openxmlformats.org/drawingml/2006/main">
              <a:ext uri="{FF2B5EF4-FFF2-40B4-BE49-F238E27FC236}">
                <a16:creationId xmlns:a16="http://schemas.microsoft.com/office/drawing/2014/main" id="{34C11997-B634-4EED-9FDF-B738CA15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91125"/>
            <a:ext cx="1095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5EAA18AC-8037-4C93-A68A-11183964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25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Gözden geçirme</a:t>
            </a:r>
          </a:p>
        </p:txBody>
      </p:sp>
      <p:sp>
        <p:nvSpPr>
          <p:cNvPr id="16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8BF58534-7B8F-4054-84BA-CEB16E14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81625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E7D1"/>
                </a:solidFill>
                <a:latin typeface="Arial"/>
                <a:ea typeface="Arial"/>
                <a:cs typeface="Arial"/>
              </a:rPr>
              <a:t>Hassas veri, ekran görüntüsü ve sağlayıcı şartları değerlendirilmelidir.</a:t>
            </a:r>
          </a:p>
        </p:txBody>
      </p:sp>
    </p:spTree>
    <p:extLst>
      <p:ext uri="{BB962C8B-B14F-4D97-AF65-F5344CB8AC3E}">
        <p14:creationId xmlns:p14="http://schemas.microsoft.com/office/powerpoint/2010/main" val="4830227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7EED0DDB-C8AF-49E0-9088-D76F6C07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YÖNETİM KURULU</a:t>
            </a:r>
          </a:p>
        </p:txBody>
      </p:sp>
      <p:sp>
        <p:nvSpPr>
          <p:cNvPr id="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3D3D2538-CACB-494C-83A1-34C3D464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38200"/>
            <a:ext cx="10906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Mevcut durum ve sınırlar</a:t>
            </a:r>
          </a:p>
        </p:txBody>
      </p:sp>
      <p:sp>
        <p:nvSpPr>
          <p:cNvPr id="3" name="shape">
            <a:extLst xmlns:a="http://schemas.openxmlformats.org/drawingml/2006/main">
              <a:ext uri="{FF2B5EF4-FFF2-40B4-BE49-F238E27FC236}">
                <a16:creationId xmlns:a16="http://schemas.microsoft.com/office/drawing/2014/main" id="{1502B8E5-E979-49B2-A360-04EBFCCD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AD06274E-4F22-43F7-AC57-962D0793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45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12D7DBF2-EA00-4346-9FB6-F19CE9E1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Mevcut uygulama ile önerilen kurumsal kullanım arasında doğrulama gerekir.</a:t>
            </a:r>
          </a:p>
        </p:txBody>
      </p:sp>
      <p:sp>
        <p:nvSpPr>
          <p:cNvPr id="6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E991FFD7-35A3-4743-A3A9-E716E194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Teknik durum</a:t>
            </a:r>
          </a:p>
        </p:txBody>
      </p:sp>
      <p:sp>
        <p:nvSpPr>
          <p:cNvPr id="7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3C44A9D2-A58E-4EC5-B830-2F09BCCC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52775"/>
            <a:ext cx="776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Yerel CLI/TUI, sağlayıcı seçimi ve araç akışları kaynakta mevcut.</a:t>
            </a:r>
          </a:p>
        </p:txBody>
      </p:sp>
      <p:sp>
        <p:nvSpPr>
          <p:cNvPr id="8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CFFB67A1-DF0F-4BED-BA2A-90A523A2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Doğrulama</a:t>
            </a:r>
          </a:p>
        </p:txBody>
      </p:sp>
      <p:sp>
        <p:nvSpPr>
          <p:cNvPr id="9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0E7B159A-DBE0-41B0-B723-ED4391AA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10025"/>
            <a:ext cx="776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Kurumsal saha kullanımı için pilot doğrulaması gerekiyor.</a:t>
            </a:r>
          </a:p>
        </p:txBody>
      </p:sp>
      <p:sp>
        <p:nvSpPr>
          <p:cNvPr id="10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F971AF7E-2220-4C79-A3EF-3811A434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Güvenlik</a:t>
            </a:r>
          </a:p>
        </p:txBody>
      </p:sp>
      <p:sp>
        <p:nvSpPr>
          <p:cNvPr id="11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B6114891-AEC3-48F2-94AD-16A7928B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67275"/>
            <a:ext cx="776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Standart güvenlik taraması tamamlanmadı. Ayrıca ele alınmalı.</a:t>
            </a:r>
          </a:p>
        </p:txBody>
      </p:sp>
    </p:spTree>
    <p:extLst>
      <p:ext uri="{BB962C8B-B14F-4D97-AF65-F5344CB8AC3E}">
        <p14:creationId xmlns:p14="http://schemas.microsoft.com/office/powerpoint/2010/main" val="2514853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9207F4A9-5AE2-4CC3-9FD2-21A67275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ÖNERİ</a:t>
            </a:r>
          </a:p>
        </p:txBody>
      </p:sp>
      <p:sp>
        <p:nvSpPr>
          <p:cNvPr id="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9FB466DD-CCAA-4D7B-A69C-9754C151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38200"/>
            <a:ext cx="10906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Önerilen pilot</a:t>
            </a:r>
          </a:p>
        </p:txBody>
      </p:sp>
      <p:sp>
        <p:nvSpPr>
          <p:cNvPr id="3" name="shape">
            <a:extLst xmlns:a="http://schemas.openxmlformats.org/drawingml/2006/main">
              <a:ext uri="{FF2B5EF4-FFF2-40B4-BE49-F238E27FC236}">
                <a16:creationId xmlns:a16="http://schemas.microsoft.com/office/drawing/2014/main" id="{486AD394-B65A-40CA-A7B7-5350A4C3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EA425489-7376-4F52-A764-895F3F9A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45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C0A04590-A474-4046-9645-8CAE60A6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Sınırlı bir ekip ve açıkça tanımlanmış işler ile değerlendirme</a:t>
            </a:r>
          </a:p>
        </p:txBody>
      </p:sp>
      <p:sp>
        <p:nvSpPr>
          <p:cNvPr id="6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32FD27A3-7C9E-4E78-9DC2-0CB1C904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480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8B82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F4395270-41AE-4DAB-9801-18E9762C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04800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Kapsam</a:t>
            </a:r>
          </a:p>
        </p:txBody>
      </p:sp>
      <p:sp>
        <p:nvSpPr>
          <p:cNvPr id="8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A0AA629F-25F7-4018-88C2-719F36FA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57525"/>
            <a:ext cx="619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Uygun çalışma alanları ve izin verilen görevler belirlenir.</a:t>
            </a:r>
          </a:p>
        </p:txBody>
      </p:sp>
      <p:sp>
        <p:nvSpPr>
          <p:cNvPr id="9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14A6E760-69F5-466A-8A91-438D6CF3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052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8B82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61E56589-E445-400E-B019-BD897222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90525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Kontrol</a:t>
            </a:r>
          </a:p>
        </p:txBody>
      </p:sp>
      <p:sp>
        <p:nvSpPr>
          <p:cNvPr id="11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E61FEA44-39BB-448E-A09C-46901BFE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14775"/>
            <a:ext cx="619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Sağlayıcı, veri paylaşımı ve YOLO kullanımı için kurallar yazılır.</a:t>
            </a:r>
          </a:p>
        </p:txBody>
      </p:sp>
      <p:sp>
        <p:nvSpPr>
          <p:cNvPr id="1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80B312D7-5C8C-41B5-AF77-3F8DD4BB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625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78B82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8B82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83C1482F-2E58-4E7A-BD32-19E28DE2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76250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Değerlendirme</a:t>
            </a:r>
          </a:p>
        </p:txBody>
      </p:sp>
      <p:sp>
        <p:nvSpPr>
          <p:cNvPr id="14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92C257B4-CEA3-4C2B-8BA7-77DCFA0A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72025"/>
            <a:ext cx="619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Deneyimler ve gerçekleşen maliyetler pilot sonunda gözden geçirilir.</a:t>
            </a:r>
          </a:p>
        </p:txBody>
      </p:sp>
    </p:spTree>
    <p:extLst>
      <p:ext uri="{BB962C8B-B14F-4D97-AF65-F5344CB8AC3E}">
        <p14:creationId xmlns:p14="http://schemas.microsoft.com/office/powerpoint/2010/main" val="5182630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C6C974AA-4835-4C41-A1D4-7EFF123D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ÖNERİ</a:t>
            </a:r>
          </a:p>
        </p:txBody>
      </p:sp>
      <p:sp>
        <p:nvSpPr>
          <p:cNvPr id="2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E60CD4E4-8712-46AB-AAA1-517EBF28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38200"/>
            <a:ext cx="10906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Yönetim kararı ve sonraki adımlar</a:t>
            </a:r>
          </a:p>
        </p:txBody>
      </p:sp>
      <p:sp>
        <p:nvSpPr>
          <p:cNvPr id="3" name="shape">
            <a:extLst xmlns:a="http://schemas.openxmlformats.org/drawingml/2006/main">
              <a:ext uri="{FF2B5EF4-FFF2-40B4-BE49-F238E27FC236}">
                <a16:creationId xmlns:a16="http://schemas.microsoft.com/office/drawing/2014/main" id="{0754BE66-A059-4104-A48E-2228A3FD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3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EC502A44-ABD9-4A07-AB89-AE4B979D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5264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45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B5D12AA0-1D1D-45B4-AD89-74B9B92C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317"/>
                </a:solidFill>
                <a:latin typeface="Arial"/>
                <a:ea typeface="Arial"/>
                <a:cs typeface="Arial"/>
              </a:rPr>
              <a:t>Pilot kapsamı ve sorumlu ekip için karar</a:t>
            </a:r>
          </a:p>
        </p:txBody>
      </p:sp>
      <p:sp>
        <p:nvSpPr>
          <p:cNvPr id="6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68D203AC-A6F9-417B-8B8D-65444F1C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Karar</a:t>
            </a:r>
          </a:p>
        </p:txBody>
      </p:sp>
      <p:sp>
        <p:nvSpPr>
          <p:cNvPr id="7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F9A9CFF5-6F2D-48A6-B080-5D154E4A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67050"/>
            <a:ext cx="776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Sınırlı bir pilotun başlatılmasına yönelik yetki.</a:t>
            </a:r>
          </a:p>
        </p:txBody>
      </p:sp>
      <p:sp>
        <p:nvSpPr>
          <p:cNvPr id="8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E3A98E6B-6E12-4077-9944-929CBBDB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Ön koşul</a:t>
            </a:r>
          </a:p>
        </p:txBody>
      </p:sp>
      <p:sp>
        <p:nvSpPr>
          <p:cNvPr id="9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70A5E39B-C7DD-4D15-A455-FBD6326F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05250"/>
            <a:ext cx="776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Veri, güvenlik ve sağlayıcı kullanım kurallarının netleşmesi.</a:t>
            </a:r>
          </a:p>
        </p:txBody>
      </p:sp>
      <p:sp>
        <p:nvSpPr>
          <p:cNvPr id="10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D2C9D8A6-C56F-4210-BE2D-FBE3BE2D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2710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2710D"/>
                </a:solidFill>
                <a:latin typeface="Arial"/>
                <a:ea typeface="Arial"/>
                <a:cs typeface="Arial"/>
              </a:rPr>
              <a:t>Çıktı</a:t>
            </a:r>
          </a:p>
        </p:txBody>
      </p:sp>
      <p:sp>
        <p:nvSpPr>
          <p:cNvPr id="11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2845981A-AD75-453A-92E9-4BEF78C9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43450"/>
            <a:ext cx="7762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31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317"/>
                </a:solidFill>
                <a:latin typeface="Arial"/>
                <a:ea typeface="Arial"/>
                <a:cs typeface="Arial"/>
              </a:rPr>
              <a:t>Pilot sonunda devam, değişiklik veya durdurma değerlendirmesi.</a:t>
            </a:r>
          </a:p>
        </p:txBody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8A7877BC-24A5-40D8-9A05-B562F269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91125"/>
            <a:ext cx="1095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D0F5F1FC-6277-4D32-8FB7-37C05290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25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Önerilen yol haritası</a:t>
            </a:r>
          </a:p>
        </p:txBody>
      </p:sp>
      <p:sp>
        <p:nvSpPr>
          <p:cNvPr id="14" name="editable-text">
            <a:extLst xmlns:a="http://schemas.openxmlformats.org/drawingml/2006/main">
              <a:ext uri="{FF2B5EF4-FFF2-40B4-BE49-F238E27FC236}">
                <a16:creationId xmlns:a16="http://schemas.microsoft.com/office/drawing/2014/main" id="{D8DB08BF-CD3A-4586-842A-E98B2894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81625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D8E7D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E7D1"/>
                </a:solidFill>
                <a:latin typeface="Arial"/>
                <a:ea typeface="Arial"/>
                <a:cs typeface="Arial"/>
              </a:rPr>
              <a:t>Pilot hazırlığı, kontrollü kullanım ve sonuç değerlendirmesi.</a:t>
            </a:r>
          </a:p>
        </p:txBody>
      </p:sp>
    </p:spTree>
    <p:extLst>
      <p:ext uri="{BB962C8B-B14F-4D97-AF65-F5344CB8AC3E}">
        <p14:creationId xmlns:p14="http://schemas.microsoft.com/office/powerpoint/2010/main" val="1509865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2026-10-27T00:57:04.2020000Z</dcterms:created>
  <dcterms:modified xsi:type="dcterms:W3CDTF">2026-10-27T00:57:04.2020000Z</dcterms:modified>
</coreProperties>
</file>