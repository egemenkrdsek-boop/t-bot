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EB96"/>
          </a:solidFill>
          <a:ln w="12700">
            <a:solidFill>
              <a:srgbClr val="00EB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"/>
            <a:ext cx="4114800" cy="18288"/>
          </a:xfrm>
          <a:prstGeom prst="rect">
            <a:avLst/>
          </a:prstGeom>
          <a:solidFill>
            <a:srgbClr val="38CDF2"/>
          </a:solidFill>
          <a:ln w="12700">
            <a:solidFill>
              <a:srgbClr val="38CDF2"/>
            </a:solidFill>
            <a:prstDash val="solid"/>
          </a:ln>
        </p:spPr>
      </p:sp>
      <p:pic>
        <p:nvPicPr>
          <p:cNvPr id="4" name="Image 0" descr="C:\Users\Egemen\.gemini\antigravity\brain\dcb95c0d-0cd7-416b-9761-00f9df2db80f\scratch\tbot_pixel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2926080" cy="1170432"/>
          </a:xfrm>
          <a:prstGeom prst="rect">
            <a:avLst/>
          </a:prstGeom>
        </p:spPr>
      </p:pic>
      <p:pic>
        <p:nvPicPr>
          <p:cNvPr id="5" name="Image 1" descr="C:\Users\Egemen\.gemini\antigravity\brain\dcb95c0d-0cd7-416b-9761-00f9df2db80f\scratch\tab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777240"/>
            <a:ext cx="1828800" cy="5943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520" y="19659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00EB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 BOT V2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731520" y="26974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Kurumsal Yapay Zekâ Mühendislik, Otonom Masaüstü ve Mobil Bot Platformu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731520" y="321868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Yazılım ekiplerinin üretkenliğini 5 katına çıkaran, %50–%75 token maliyet tasarrufu sağlayan ve sıfır bulut altyapısıyla çalışan Tri-Core ekosistem.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731520" y="388620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0D1813"/>
          </a:solidFill>
          <a:ln w="15240">
            <a:solidFill>
              <a:srgbClr val="1A332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68680" y="3959352"/>
            <a:ext cx="731520" cy="36576"/>
          </a:xfrm>
          <a:prstGeom prst="roundRect">
            <a:avLst/>
          </a:prstGeom>
          <a:solidFill>
            <a:srgbClr val="00EB96"/>
          </a:solidFill>
          <a:ln w="12700">
            <a:solidFill>
              <a:srgbClr val="00EB9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14400" y="408736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B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%50–%75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914400" y="46360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Tasarrufu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914400" y="498348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Caching &amp; Niyet Duyarlı AST Budama ile bütçede devasa optimizasyon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465576" y="388620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0D1813"/>
          </a:solidFill>
          <a:ln w="15240">
            <a:solidFill>
              <a:srgbClr val="1A332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602736" y="3959352"/>
            <a:ext cx="731520" cy="36576"/>
          </a:xfrm>
          <a:prstGeom prst="roundRect">
            <a:avLst/>
          </a:prstGeom>
          <a:solidFill>
            <a:srgbClr val="38CDF2"/>
          </a:solidFill>
          <a:ln w="12700">
            <a:solidFill>
              <a:srgbClr val="38CDF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648456" y="408736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%100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3648456" y="46360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Anti-Halüsinasyon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3648456" y="498348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Read-Before-Write ve Post-Write AST otomatik rollback güvenlik kalkanı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199632" y="388620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0D1813"/>
          </a:solidFill>
          <a:ln w="15240">
            <a:solidFill>
              <a:srgbClr val="1A332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336792" y="3959352"/>
            <a:ext cx="731520" cy="36576"/>
          </a:xfrm>
          <a:prstGeom prst="round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382512" y="408736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~38 MB</a:t>
            </a:r>
            <a:endParaRPr lang="en-US" sz="2600" dirty="0"/>
          </a:p>
        </p:txBody>
      </p:sp>
      <p:sp>
        <p:nvSpPr>
          <p:cNvPr id="22" name="Text 18"/>
          <p:cNvSpPr/>
          <p:nvPr/>
        </p:nvSpPr>
        <p:spPr>
          <a:xfrm>
            <a:off x="6382512" y="46360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Ultra Hafif RAM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6382512" y="498348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MemoryGuard bekçisi ile geliştirici iş istasyonlarında sıfır bellek yükü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8933688" y="388620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0D1813"/>
          </a:solidFill>
          <a:ln w="15240">
            <a:solidFill>
              <a:srgbClr val="1A332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9070848" y="3959352"/>
            <a:ext cx="731520" cy="36576"/>
          </a:xfrm>
          <a:prstGeom prst="roundRect">
            <a:avLst/>
          </a:prstGeom>
          <a:solidFill>
            <a:srgbClr val="00EB96"/>
          </a:solidFill>
          <a:ln w="12700">
            <a:solidFill>
              <a:srgbClr val="00EB9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116568" y="408736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B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3'ü 1 Arada</a:t>
            </a:r>
            <a:endParaRPr lang="en-US" sz="2600" dirty="0"/>
          </a:p>
        </p:txBody>
      </p:sp>
      <p:sp>
        <p:nvSpPr>
          <p:cNvPr id="27" name="Text 23"/>
          <p:cNvSpPr/>
          <p:nvPr/>
        </p:nvSpPr>
        <p:spPr>
          <a:xfrm>
            <a:off x="9116568" y="46360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Tri-Core Mimari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9116568" y="498348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Elit Kodlama + Otonom Masaüstü OS + Sıfır-Backend Telegram Botu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B66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YÖNETİM KURULU STRATEJİK SUNUMU │ TABİT BİLİŞİM │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B96"/>
          </a:solidFill>
          <a:ln w="12700">
            <a:solidFill>
              <a:srgbClr val="00EB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"/>
            <a:ext cx="3200400" cy="18288"/>
          </a:xfrm>
          <a:prstGeom prst="rect">
            <a:avLst/>
          </a:prstGeom>
          <a:solidFill>
            <a:srgbClr val="38CDF2"/>
          </a:solidFill>
          <a:ln w="12700">
            <a:solidFill>
              <a:srgbClr val="38CD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38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STRATEJİK KONUMLANDIRMA │ DEĞER ÖNERİSİ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475488"/>
            <a:ext cx="8961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Yönetici Özeti &amp; Stratejik Vizyon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93268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Geleneksel kod asistanlarının sınırlarını aşan, kurumsal yazılım üretimini tek çatı altında otonomlaştıran vizyon</a:t>
            </a:r>
            <a:endParaRPr lang="en-US" sz="1050" dirty="0"/>
          </a:p>
        </p:txBody>
      </p:sp>
      <p:pic>
        <p:nvPicPr>
          <p:cNvPr id="7" name="Image 0" descr="C:\Users\Egemen\.gemini\antigravity\brain\dcb95c0d-0cd7-416b-9761-00f9df2db80f\scratch\tab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292608"/>
            <a:ext cx="1234440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6419088"/>
            <a:ext cx="10728655" cy="0"/>
          </a:xfrm>
          <a:prstGeom prst="line">
            <a:avLst/>
          </a:prstGeom>
          <a:noFill/>
          <a:ln w="12700">
            <a:solidFill>
              <a:srgbClr val="1A33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B66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 BOT V2 │ TRI-CORE ENTERPRISE AI PLATFORM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389120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66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GİZLİ &amp; KURUMSAL — YÖNETİM KURULU İÇİN HAZIRLANMIŞTIR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875520" y="6473952"/>
            <a:ext cx="1584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EB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Slayt 2 / 10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31520" y="1325880"/>
            <a:ext cx="5212080" cy="1481328"/>
          </a:xfrm>
          <a:prstGeom prst="roundRect">
            <a:avLst>
              <a:gd name="adj" fmla="val 4938"/>
            </a:avLst>
          </a:prstGeom>
          <a:solidFill>
            <a:srgbClr val="0D1813"/>
          </a:solidFill>
          <a:ln w="15240">
            <a:solidFill>
              <a:srgbClr val="1A332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1435608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SORUN: YÜKSEK API MALİYETLERİ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960120" y="165506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Akıllı Tasarruf Motoru ile %50–%75 Bütçe Koruması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60120" y="2002536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Geleneksel araçlar her soruda tüm repo içeriğini modele yükler. T Bot V2, sağlayıcı düzeyinde Prompt Caching ve niyet duyarlı şema budama ile gereksiz token tüketimini sıfıra indirir.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731520" y="2926080"/>
            <a:ext cx="5212080" cy="1481328"/>
          </a:xfrm>
          <a:prstGeom prst="roundRect">
            <a:avLst>
              <a:gd name="adj" fmla="val 4938"/>
            </a:avLst>
          </a:prstGeom>
          <a:solidFill>
            <a:srgbClr val="0D1813"/>
          </a:solidFill>
          <a:ln w="15240">
            <a:solidFill>
              <a:srgbClr val="1A332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0120" y="3035808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SORUN: HALÜSİNASYON &amp; BOZUK KOD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960120" y="325526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Deterministik Anti-Halüsinasyon &amp; Otomatik Rollback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0120" y="3602736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Read-Before-Write zorunluluğu ve yazım sonrası AST sözdizim denetimi ile modelin hayali kod üretmesi engellenir. En ufak derleme hatasında dosya anında orijinal haline geri döndürülür.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731520" y="4526280"/>
            <a:ext cx="5212080" cy="1481328"/>
          </a:xfrm>
          <a:prstGeom prst="roundRect">
            <a:avLst>
              <a:gd name="adj" fmla="val 4938"/>
            </a:avLst>
          </a:prstGeom>
          <a:solidFill>
            <a:srgbClr val="0D1813"/>
          </a:solidFill>
          <a:ln w="15240">
            <a:solidFill>
              <a:srgbClr val="1A332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0120" y="4636008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B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SORUN: TEK SAĞLAYICIYA BAĞIMLILIK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960120" y="485546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Model-Agnostik Özgürlük &amp; Donanım Seviyesinde Güvenlik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60120" y="5202936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2.5, Claude 3.7, GPT-4.5, DeepSeek R1 ve yerel Ollama modellerini tek CLI üzerinden çalıştırır. Kurumsal API anahtarları Windows DPAPI ile yerel şifrelenir; kodlar asla sızmaz.</a:t>
            </a:r>
            <a:endParaRPr lang="en-US" sz="980" dirty="0"/>
          </a:p>
        </p:txBody>
      </p:sp>
      <p:sp>
        <p:nvSpPr>
          <p:cNvPr id="24" name="Shape 21"/>
          <p:cNvSpPr/>
          <p:nvPr/>
        </p:nvSpPr>
        <p:spPr>
          <a:xfrm>
            <a:off x="6217920" y="132588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0D1813"/>
          </a:solidFill>
          <a:ln w="15240">
            <a:solidFill>
              <a:srgbClr val="1A332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0" y="1508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B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5x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6400800" y="2011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MÜHENDİSLİK HIZI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400800" y="233172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Rutin kod yazma, birim test çıkarma, mimari refactor ve hata ayıklama süreçlerinde geliştirici verimliliğini 5 kat artırır.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915400" y="132588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0D1813"/>
          </a:solidFill>
          <a:ln w="15240">
            <a:solidFill>
              <a:srgbClr val="1A332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098280" y="1508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B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$0</a:t>
            </a:r>
            <a:endParaRPr lang="en-US" sz="2600" dirty="0"/>
          </a:p>
        </p:txBody>
      </p:sp>
      <p:sp>
        <p:nvSpPr>
          <p:cNvPr id="30" name="Text 27"/>
          <p:cNvSpPr/>
          <p:nvPr/>
        </p:nvSpPr>
        <p:spPr>
          <a:xfrm>
            <a:off x="9098280" y="2011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BULUT ALTYAPI MALİYETİ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9098280" y="233172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Telegram botu ve masaüstü otomasyonu sabit IP, VPS veya sunucu gerektirmez; yerel makineden sıfır ek maliyetle çalışır.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217920" y="374904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0D1813"/>
          </a:solidFill>
          <a:ln w="19050">
            <a:solidFill>
              <a:srgbClr val="00EB9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00800" y="3931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Gün</a:t>
            </a:r>
            <a:endParaRPr lang="en-US" sz="2600" dirty="0"/>
          </a:p>
        </p:txBody>
      </p:sp>
      <p:sp>
        <p:nvSpPr>
          <p:cNvPr id="34" name="Text 31"/>
          <p:cNvSpPr/>
          <p:nvPr/>
        </p:nvSpPr>
        <p:spPr>
          <a:xfrm>
            <a:off x="6400800" y="4434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YATIRIM GERİ DÖNÜŞÜ (ROI)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400800" y="475488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kişilik yazılım ekibinde yıllık 204.000$ net token tasarrufu sağlayarak ilk 15 günde kendini amorti eder.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8915400" y="374904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0D1813"/>
          </a:solidFill>
          <a:ln w="15240">
            <a:solidFill>
              <a:srgbClr val="1A332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098280" y="3931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B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 MB</a:t>
            </a:r>
            <a:endParaRPr lang="en-US" sz="2600" dirty="0"/>
          </a:p>
        </p:txBody>
      </p:sp>
      <p:sp>
        <p:nvSpPr>
          <p:cNvPr id="38" name="Text 35"/>
          <p:cNvSpPr/>
          <p:nvPr/>
        </p:nvSpPr>
        <p:spPr>
          <a:xfrm>
            <a:off x="9098280" y="4434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MİNİMAL RAM AYAK İZİ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9098280" y="475488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Rakiplerin 300-500 MB bellek yüküne karşılık MemoryGuard ile sadece 38 MB tüketir; iş istasyonunda sıfır yavaşlama yaratır.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B96"/>
          </a:solidFill>
          <a:ln w="12700">
            <a:solidFill>
              <a:srgbClr val="00EB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"/>
            <a:ext cx="3200400" cy="18288"/>
          </a:xfrm>
          <a:prstGeom prst="rect">
            <a:avLst/>
          </a:prstGeom>
          <a:solidFill>
            <a:srgbClr val="38CDF2"/>
          </a:solidFill>
          <a:ln w="12700">
            <a:solidFill>
              <a:srgbClr val="38CD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38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ÇEKİRDEK MİMARİ │ TEK ÇATI ALTINDA 3 MOTOR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475488"/>
            <a:ext cx="8961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Tri-Core (Üçlü Çekirdek) Mimari Mükemmelliği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93268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Yazılım mühendisliğini, işletim sistemi kontrolünü ve mobil uzaktan yönetimi birleştiren kurumsal hibrit motor</a:t>
            </a:r>
            <a:endParaRPr lang="en-US" sz="1050" dirty="0"/>
          </a:p>
        </p:txBody>
      </p:sp>
      <p:pic>
        <p:nvPicPr>
          <p:cNvPr id="7" name="Image 0" descr="C:\Users\Egemen\.gemini\antigravity\brain\dcb95c0d-0cd7-416b-9761-00f9df2db80f\scratch\tab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292608"/>
            <a:ext cx="1234440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6419088"/>
            <a:ext cx="10728655" cy="0"/>
          </a:xfrm>
          <a:prstGeom prst="line">
            <a:avLst/>
          </a:prstGeom>
          <a:noFill/>
          <a:ln w="12700">
            <a:solidFill>
              <a:srgbClr val="1A33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B66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 BOT V2 │ TRI-CORE ENTERPRISE AI PLATFORM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389120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66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GİZLİ &amp; KURUMSAL — YÖNETİM KURULU İÇİN HAZIRLANMIŞTIR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875520" y="6473952"/>
            <a:ext cx="1584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EB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Slayt 3 / 10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31520" y="1325880"/>
            <a:ext cx="3429000" cy="4892040"/>
          </a:xfrm>
          <a:prstGeom prst="roundRect">
            <a:avLst>
              <a:gd name="adj" fmla="val 2667"/>
            </a:avLst>
          </a:prstGeom>
          <a:solidFill>
            <a:srgbClr val="0D1813"/>
          </a:solidFill>
          <a:ln w="15240">
            <a:solidFill>
              <a:srgbClr val="00EB9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8680" y="1435608"/>
            <a:ext cx="3154680" cy="45720"/>
          </a:xfrm>
          <a:prstGeom prst="roundRect">
            <a:avLst/>
          </a:prstGeom>
          <a:solidFill>
            <a:srgbClr val="00EB96"/>
          </a:solidFill>
          <a:ln w="12700">
            <a:solidFill>
              <a:srgbClr val="00EB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1563624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B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MOTOR 1 │ YÜKSEK HASSASİYET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914400" y="180136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Elit Kodlama Ajanı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14400" y="216712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8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AST Sembol Haritalama &amp; Öz-Onarımlı Ultracode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914400" y="2560320"/>
            <a:ext cx="3063240" cy="804672"/>
          </a:xfrm>
          <a:prstGeom prst="roundRect">
            <a:avLst>
              <a:gd name="adj" fmla="val 6818"/>
            </a:avLst>
          </a:prstGeom>
          <a:solidFill>
            <a:srgbClr val="12221B"/>
          </a:solidFill>
          <a:ln w="12700">
            <a:solidFill>
              <a:srgbClr val="1A332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5840" y="2615184"/>
            <a:ext cx="2880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file_outline AST Haritalama: </a:t>
            </a:r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100k+ satırlık depolarda yalnızca ilgili fonksiyon ve sınıf başlıklarını okuyarak bağlamı korur.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914400" y="3438144"/>
            <a:ext cx="3063240" cy="804672"/>
          </a:xfrm>
          <a:prstGeom prst="roundRect">
            <a:avLst>
              <a:gd name="adj" fmla="val 6818"/>
            </a:avLst>
          </a:prstGeom>
          <a:solidFill>
            <a:srgbClr val="12221B"/>
          </a:solidFill>
          <a:ln w="12700">
            <a:solidFill>
              <a:srgbClr val="1A332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5840" y="3493008"/>
            <a:ext cx="2880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Multi-Hunk Atomik Yama: </a:t>
            </a:r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Dosyanın tamamını tekrar yazmak yerine sadece değişen satırları milimetrik diff ile uygular.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914400" y="4315968"/>
            <a:ext cx="3063240" cy="804672"/>
          </a:xfrm>
          <a:prstGeom prst="roundRect">
            <a:avLst>
              <a:gd name="adj" fmla="val 6818"/>
            </a:avLst>
          </a:prstGeom>
          <a:solidFill>
            <a:srgbClr val="12221B"/>
          </a:solidFill>
          <a:ln w="12700">
            <a:solidFill>
              <a:srgbClr val="1A332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05840" y="4370832"/>
            <a:ext cx="2880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Kesintisiz Dev Sunucu İzleme: </a:t>
            </a:r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run dev ve docker loglarını arka planda dinler; çalışma anı çökmelerini yakalar.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914400" y="5193792"/>
            <a:ext cx="3063240" cy="804672"/>
          </a:xfrm>
          <a:prstGeom prst="roundRect">
            <a:avLst>
              <a:gd name="adj" fmla="val 6818"/>
            </a:avLst>
          </a:prstGeom>
          <a:solidFill>
            <a:srgbClr val="12221B"/>
          </a:solidFill>
          <a:ln w="12700">
            <a:solidFill>
              <a:srgbClr val="1A332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05840" y="5248656"/>
            <a:ext cx="2880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Bütünleşik Git Süiti: </a:t>
            </a:r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Otomatik diff analizi, kurala uygun commit mesajları ve korumalı branch/pull-request yönetimi.</a:t>
            </a:r>
            <a:endParaRPr lang="en-US" sz="880" dirty="0"/>
          </a:p>
        </p:txBody>
      </p:sp>
      <p:sp>
        <p:nvSpPr>
          <p:cNvPr id="25" name="Shape 22"/>
          <p:cNvSpPr/>
          <p:nvPr/>
        </p:nvSpPr>
        <p:spPr>
          <a:xfrm>
            <a:off x="4379976" y="1325880"/>
            <a:ext cx="3429000" cy="4892040"/>
          </a:xfrm>
          <a:prstGeom prst="roundRect">
            <a:avLst>
              <a:gd name="adj" fmla="val 2667"/>
            </a:avLst>
          </a:prstGeom>
          <a:solidFill>
            <a:srgbClr val="0D1813"/>
          </a:solidFill>
          <a:ln w="15240">
            <a:solidFill>
              <a:srgbClr val="38CDF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17136" y="1435608"/>
            <a:ext cx="3154680" cy="45720"/>
          </a:xfrm>
          <a:prstGeom prst="roundRect">
            <a:avLst/>
          </a:prstGeom>
          <a:solidFill>
            <a:srgbClr val="38CDF2"/>
          </a:solidFill>
          <a:ln w="12700">
            <a:solidFill>
              <a:srgbClr val="38CDF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62856" y="1563624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MOTOR 2 │ TAM SİSTEM HÂKİMİYETİ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562856" y="180136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Otonom Masaüstü Ajanı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562856" y="216712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8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Win32 C# DLL &amp; Playwright Otomasyonu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562856" y="2560320"/>
            <a:ext cx="3063240" cy="804672"/>
          </a:xfrm>
          <a:prstGeom prst="roundRect">
            <a:avLst>
              <a:gd name="adj" fmla="val 6818"/>
            </a:avLst>
          </a:prstGeom>
          <a:solidFill>
            <a:srgbClr val="12221B"/>
          </a:solidFill>
          <a:ln w="12700">
            <a:solidFill>
              <a:srgbClr val="1A332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54296" y="2615184"/>
            <a:ext cx="2880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Ultra Hızlı Win32 C# DLL: </a:t>
            </a:r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Bellekte önbelleklenen User32 API'leri ile &lt;40ms gecikmesiz pencere, fare ve klavye kontrolü.</a:t>
            </a:r>
            <a:endParaRPr lang="en-US" sz="880" dirty="0"/>
          </a:p>
        </p:txBody>
      </p:sp>
      <p:sp>
        <p:nvSpPr>
          <p:cNvPr id="32" name="Shape 29"/>
          <p:cNvSpPr/>
          <p:nvPr/>
        </p:nvSpPr>
        <p:spPr>
          <a:xfrm>
            <a:off x="4562856" y="3438144"/>
            <a:ext cx="3063240" cy="804672"/>
          </a:xfrm>
          <a:prstGeom prst="roundRect">
            <a:avLst>
              <a:gd name="adj" fmla="val 6818"/>
            </a:avLst>
          </a:prstGeom>
          <a:solidFill>
            <a:srgbClr val="12221B"/>
          </a:solidFill>
          <a:ln w="12700">
            <a:solidFill>
              <a:srgbClr val="1A332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654296" y="3493008"/>
            <a:ext cx="2880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Çok Adımlı /goal Planlayıcı: </a:t>
            </a:r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Yüksek seviyeli görevleri mikro adımlara böler, bağımlılıkları dinamik olarak çözümler.</a:t>
            </a:r>
            <a:endParaRPr lang="en-US" sz="880" dirty="0"/>
          </a:p>
        </p:txBody>
      </p:sp>
      <p:sp>
        <p:nvSpPr>
          <p:cNvPr id="34" name="Shape 31"/>
          <p:cNvSpPr/>
          <p:nvPr/>
        </p:nvSpPr>
        <p:spPr>
          <a:xfrm>
            <a:off x="4562856" y="4315968"/>
            <a:ext cx="3063240" cy="804672"/>
          </a:xfrm>
          <a:prstGeom prst="roundRect">
            <a:avLst>
              <a:gd name="adj" fmla="val 6818"/>
            </a:avLst>
          </a:prstGeom>
          <a:solidFill>
            <a:srgbClr val="12221B"/>
          </a:solidFill>
          <a:ln w="12700">
            <a:solidFill>
              <a:srgbClr val="1A332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654296" y="4370832"/>
            <a:ext cx="2880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İzole Playwright Web Ajanı: </a:t>
            </a:r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Sayfa navigasyonu, DOM ayrıştırma, form doldurma ve görsel hata ayıklama motoru.</a:t>
            </a:r>
            <a:endParaRPr lang="en-US" sz="880" dirty="0"/>
          </a:p>
        </p:txBody>
      </p:sp>
      <p:sp>
        <p:nvSpPr>
          <p:cNvPr id="36" name="Shape 33"/>
          <p:cNvSpPr/>
          <p:nvPr/>
        </p:nvSpPr>
        <p:spPr>
          <a:xfrm>
            <a:off x="4562856" y="5193792"/>
            <a:ext cx="3063240" cy="804672"/>
          </a:xfrm>
          <a:prstGeom prst="roundRect">
            <a:avLst>
              <a:gd name="adj" fmla="val 6818"/>
            </a:avLst>
          </a:prstGeom>
          <a:solidFill>
            <a:srgbClr val="12221B"/>
          </a:solidFill>
          <a:ln w="12700">
            <a:solidFill>
              <a:srgbClr val="1A332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654296" y="5248656"/>
            <a:ext cx="2880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Kalıcı Kurumsal Bellek (.tbot/memory.json): </a:t>
            </a:r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Mimari kararları ve proje kural setlerini oturumlar boyunca hatırlar.</a:t>
            </a:r>
            <a:endParaRPr lang="en-US" sz="880" dirty="0"/>
          </a:p>
        </p:txBody>
      </p:sp>
      <p:sp>
        <p:nvSpPr>
          <p:cNvPr id="38" name="Shape 35"/>
          <p:cNvSpPr/>
          <p:nvPr/>
        </p:nvSpPr>
        <p:spPr>
          <a:xfrm>
            <a:off x="8028432" y="1325880"/>
            <a:ext cx="3429000" cy="4892040"/>
          </a:xfrm>
          <a:prstGeom prst="roundRect">
            <a:avLst>
              <a:gd name="adj" fmla="val 2667"/>
            </a:avLst>
          </a:prstGeom>
          <a:solidFill>
            <a:srgbClr val="0D1813"/>
          </a:solidFill>
          <a:ln w="15240">
            <a:solidFill>
              <a:srgbClr val="FFB80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165592" y="1435608"/>
            <a:ext cx="3154680" cy="45720"/>
          </a:xfrm>
          <a:prstGeom prst="round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211312" y="1563624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MOTOR 3 │ MOBİL OTONOMİ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8211312" y="180136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Sıfır-Backend Telegram Botu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8211312" y="216712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8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 Onay &amp; Canlı Telemetri Ağ Geçidi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8211312" y="2560320"/>
            <a:ext cx="3063240" cy="804672"/>
          </a:xfrm>
          <a:prstGeom prst="roundRect">
            <a:avLst>
              <a:gd name="adj" fmla="val 6818"/>
            </a:avLst>
          </a:prstGeom>
          <a:solidFill>
            <a:srgbClr val="12221B"/>
          </a:solidFill>
          <a:ln w="12700">
            <a:solidFill>
              <a:srgbClr val="1A332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302752" y="2615184"/>
            <a:ext cx="2880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Sıfır Sunucu Maliyeti: </a:t>
            </a:r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Sabit IP, port yönlendirme veya VPS gerekmez; yerel bilgisayardan güvenli Long-Polling ile bağlanır.</a:t>
            </a:r>
            <a:endParaRPr lang="en-US" sz="880" dirty="0"/>
          </a:p>
        </p:txBody>
      </p:sp>
      <p:sp>
        <p:nvSpPr>
          <p:cNvPr id="45" name="Shape 42"/>
          <p:cNvSpPr/>
          <p:nvPr/>
        </p:nvSpPr>
        <p:spPr>
          <a:xfrm>
            <a:off x="8211312" y="3438144"/>
            <a:ext cx="3063240" cy="804672"/>
          </a:xfrm>
          <a:prstGeom prst="roundRect">
            <a:avLst>
              <a:gd name="adj" fmla="val 6818"/>
            </a:avLst>
          </a:prstGeom>
          <a:solidFill>
            <a:srgbClr val="12221B"/>
          </a:solidFill>
          <a:ln w="12700">
            <a:solidFill>
              <a:srgbClr val="1A3324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302752" y="3493008"/>
            <a:ext cx="2880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İnteraktif Mobil Onay Butonları: </a:t>
            </a:r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Kritik dosya yazma ve komutlarda cebe gelen [✓ Onayla] / [✕ Reddet] ile tam güvenlik.</a:t>
            </a:r>
            <a:endParaRPr lang="en-US" sz="880" dirty="0"/>
          </a:p>
        </p:txBody>
      </p:sp>
      <p:sp>
        <p:nvSpPr>
          <p:cNvPr id="47" name="Shape 44"/>
          <p:cNvSpPr/>
          <p:nvPr/>
        </p:nvSpPr>
        <p:spPr>
          <a:xfrm>
            <a:off x="8211312" y="4315968"/>
            <a:ext cx="3063240" cy="804672"/>
          </a:xfrm>
          <a:prstGeom prst="roundRect">
            <a:avLst>
              <a:gd name="adj" fmla="val 6818"/>
            </a:avLst>
          </a:prstGeom>
          <a:solidFill>
            <a:srgbClr val="12221B"/>
          </a:solidFill>
          <a:ln w="12700">
            <a:solidFill>
              <a:srgbClr val="1A3324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302752" y="4370832"/>
            <a:ext cx="2880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Canlı Ekran Telemetrisi (/screenshot): </a:t>
            </a:r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Masanızdan uzaktayken çalışma ekranınızı telefonunuza yüksek netlikle iletir.</a:t>
            </a:r>
            <a:endParaRPr lang="en-US" sz="880" dirty="0"/>
          </a:p>
        </p:txBody>
      </p:sp>
      <p:sp>
        <p:nvSpPr>
          <p:cNvPr id="49" name="Shape 46"/>
          <p:cNvSpPr/>
          <p:nvPr/>
        </p:nvSpPr>
        <p:spPr>
          <a:xfrm>
            <a:off x="8211312" y="5193792"/>
            <a:ext cx="3063240" cy="804672"/>
          </a:xfrm>
          <a:prstGeom prst="roundRect">
            <a:avLst>
              <a:gd name="adj" fmla="val 6818"/>
            </a:avLst>
          </a:prstGeom>
          <a:solidFill>
            <a:srgbClr val="12221B"/>
          </a:solidFill>
          <a:ln w="12700">
            <a:solidFill>
              <a:srgbClr val="1A3324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302752" y="5248656"/>
            <a:ext cx="2880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Uzaktan Görev Yönetimi: </a:t>
            </a:r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Cep telefonundan tek mesajla test başlatma, derleme izleme ve anlık ilerleme raporlama.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B96"/>
          </a:solidFill>
          <a:ln w="12700">
            <a:solidFill>
              <a:srgbClr val="00EB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"/>
            <a:ext cx="3200400" cy="18288"/>
          </a:xfrm>
          <a:prstGeom prst="rect">
            <a:avLst/>
          </a:prstGeom>
          <a:solidFill>
            <a:srgbClr val="38CDF2"/>
          </a:solidFill>
          <a:ln w="12700">
            <a:solidFill>
              <a:srgbClr val="38CD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38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GELİŞTİRİCİ DENEYİMİ │ KULLANICI ARAYÜZÜ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475488"/>
            <a:ext cx="8961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Canlı Siber-Minimalist Terminal &amp; Telemetri HUD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93268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Gözü yormayan kurumsal estetik, milisaniyelik yanıt süresi ve şeffaf telemetri göstergeleri</a:t>
            </a:r>
            <a:endParaRPr lang="en-US" sz="1050" dirty="0"/>
          </a:p>
        </p:txBody>
      </p:sp>
      <p:pic>
        <p:nvPicPr>
          <p:cNvPr id="7" name="Image 0" descr="C:\Users\Egemen\.gemini\antigravity\brain\dcb95c0d-0cd7-416b-9761-00f9df2db80f\scratch\tab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292608"/>
            <a:ext cx="1234440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6419088"/>
            <a:ext cx="10728655" cy="0"/>
          </a:xfrm>
          <a:prstGeom prst="line">
            <a:avLst/>
          </a:prstGeom>
          <a:noFill/>
          <a:ln w="12700">
            <a:solidFill>
              <a:srgbClr val="1A33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B66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 BOT V2 │ TRI-CORE ENTERPRISE AI PLATFORM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389120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66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GİZLİ &amp; KURUMSAL — YÖNETİM KURULU İÇİN HAZIRLANMIŞTIR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875520" y="6473952"/>
            <a:ext cx="1584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EB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Slayt 4 / 10</a:t>
            </a:r>
            <a:endParaRPr lang="en-US" sz="900" dirty="0"/>
          </a:p>
        </p:txBody>
      </p:sp>
      <p:pic>
        <p:nvPicPr>
          <p:cNvPr id="12" name="Image 1" descr="C:\Users\Egemen\.gemini\antigravity\brain\dcb95c0d-0cd7-416b-9761-00f9df2db80f\scratch\tbot_v2_terminal_m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217920" cy="4892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178040" y="1325880"/>
            <a:ext cx="4279392" cy="1508760"/>
          </a:xfrm>
          <a:prstGeom prst="roundRect">
            <a:avLst>
              <a:gd name="adj" fmla="val 4848"/>
            </a:avLst>
          </a:prstGeom>
          <a:solidFill>
            <a:srgbClr val="0D1813"/>
          </a:solidFill>
          <a:ln w="15240">
            <a:solidFill>
              <a:srgbClr val="00EB9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360920" y="1435608"/>
            <a:ext cx="3913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B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CANLI SİBER HUD (HEADS-UP DISPLAY)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7360920" y="1691640"/>
            <a:ext cx="3913632" cy="475488"/>
          </a:xfrm>
          <a:prstGeom prst="roundRect">
            <a:avLst>
              <a:gd name="adj" fmla="val 9615"/>
            </a:avLst>
          </a:prstGeom>
          <a:solidFill>
            <a:srgbClr val="050A07"/>
          </a:solidFill>
          <a:ln w="12700">
            <a:solidFill>
              <a:srgbClr val="1A332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34072" y="1719072"/>
            <a:ext cx="3767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8C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Model: Gemini 2.5 │ 🧠 Efor: High │ 💎 Tasarruf: %68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8C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🛡️ Grounding: Aktif │ 💾 RAM: 38.2 MB │ ⏱️ Gecikme: 42ms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7360920" y="2240280"/>
            <a:ext cx="3913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Geliştirici çalışırken arka planda harcanan token miktarını, önbellek tasarrufunu ve RAM durumunu her an gözünün önünde tutar.</a:t>
            </a:r>
            <a:endParaRPr lang="en-US" sz="880" dirty="0"/>
          </a:p>
        </p:txBody>
      </p:sp>
      <p:sp>
        <p:nvSpPr>
          <p:cNvPr id="18" name="Shape 14"/>
          <p:cNvSpPr/>
          <p:nvPr/>
        </p:nvSpPr>
        <p:spPr>
          <a:xfrm>
            <a:off x="7178040" y="2971800"/>
            <a:ext cx="4279392" cy="1554480"/>
          </a:xfrm>
          <a:prstGeom prst="roundRect">
            <a:avLst>
              <a:gd name="adj" fmla="val 4706"/>
            </a:avLst>
          </a:prstGeom>
          <a:solidFill>
            <a:srgbClr val="0D1813"/>
          </a:solidFill>
          <a:ln w="15240">
            <a:solidFill>
              <a:srgbClr val="1A332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360920" y="3081528"/>
            <a:ext cx="3913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ATOMİK MULTI-HUNK YAMA MOTORU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7360920" y="3337560"/>
            <a:ext cx="39136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Sıfır Bağlam İsrafı: </a:t>
            </a:r>
            <a:pPr indent="0" marL="0">
              <a:lnSpc>
                <a:spcPts val="1200"/>
              </a:lnSpc>
              <a:buNone/>
            </a:pPr>
            <a:r>
              <a:rPr lang="en-US" sz="86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Dosyanın tamamını tekrar üretmek yerine yalnızca değişen satırları üretir (%85 token tasarrufu).
</a:t>
            </a:r>
            <a:pPr indent="0" marL="0">
              <a:lnSpc>
                <a:spcPts val="12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Çakışma Önleyici Fuzzy Match: </a:t>
            </a:r>
            <a:pPr indent="0" marL="0">
              <a:lnSpc>
                <a:spcPts val="1200"/>
              </a:lnSpc>
              <a:buNone/>
            </a:pPr>
            <a:r>
              <a:rPr lang="en-US" sz="86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Kod tabanında kayan satır numaralarını bağlam parmak iziyle eşler; yama asla yanlış yere uygulanmaz.
</a:t>
            </a:r>
            <a:pPr indent="0" marL="0">
              <a:lnSpc>
                <a:spcPts val="12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Renkli Görsel Diff: </a:t>
            </a:r>
            <a:pPr indent="0" marL="0">
              <a:lnSpc>
                <a:spcPts val="1200"/>
              </a:lnSpc>
              <a:buNone/>
            </a:pPr>
            <a:r>
              <a:rPr lang="en-US" sz="86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Yeşil/kırmızı fark satırları terminalde kullanıcıya anında raporlanır.</a:t>
            </a:r>
            <a:endParaRPr lang="en-US" sz="860" dirty="0"/>
          </a:p>
        </p:txBody>
      </p:sp>
      <p:sp>
        <p:nvSpPr>
          <p:cNvPr id="21" name="Shape 17"/>
          <p:cNvSpPr/>
          <p:nvPr/>
        </p:nvSpPr>
        <p:spPr>
          <a:xfrm>
            <a:off x="7178040" y="4663440"/>
            <a:ext cx="4279392" cy="1554480"/>
          </a:xfrm>
          <a:prstGeom prst="roundRect">
            <a:avLst>
              <a:gd name="adj" fmla="val 4706"/>
            </a:avLst>
          </a:prstGeom>
          <a:solidFill>
            <a:srgbClr val="0D1813"/>
          </a:solidFill>
          <a:ln w="15240">
            <a:solidFill>
              <a:srgbClr val="1A332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360920" y="4773168"/>
            <a:ext cx="3913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AŞAMALI ÖZ-ONARIMLI ULTRACODE HATTI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7360920" y="5010912"/>
            <a:ext cx="391363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Araştırma: </a:t>
            </a:r>
            <a:pPr indent="0" marL="0">
              <a:lnSpc>
                <a:spcPts val="1200"/>
              </a:lnSpc>
              <a:buNone/>
            </a:pPr>
            <a:r>
              <a:rPr lang="en-US" sz="86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 ajanlar dosyaları tarar ve kanıt toplar.
</a:t>
            </a:r>
            <a:pPr indent="0" marL="0">
              <a:lnSpc>
                <a:spcPts val="12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Uygulama: </a:t>
            </a:r>
            <a:pPr indent="0" marL="0">
              <a:lnSpc>
                <a:spcPts val="1200"/>
              </a:lnSpc>
              <a:buNone/>
            </a:pPr>
            <a:r>
              <a:rPr lang="en-US" sz="86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Read-Before-Write kuralıyla atomik yama yapılır.
</a:t>
            </a:r>
            <a:pPr indent="0" marL="0">
              <a:lnSpc>
                <a:spcPts val="12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Bağımsız Denetim: </a:t>
            </a:r>
            <a:pPr indent="0" marL="0">
              <a:lnSpc>
                <a:spcPts val="1200"/>
              </a:lnSpc>
              <a:buNone/>
            </a:pPr>
            <a:r>
              <a:rPr lang="en-US" sz="86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İkinci bir salt-okunur ajan kodu denetler.
</a:t>
            </a:r>
            <a:pPr indent="0" marL="0">
              <a:lnSpc>
                <a:spcPts val="12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Öz-Onarım: </a:t>
            </a:r>
            <a:pPr indent="0" marL="0">
              <a:lnSpc>
                <a:spcPts val="1200"/>
              </a:lnSpc>
              <a:buNone/>
            </a:pPr>
            <a:r>
              <a:rPr lang="en-US" sz="86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Hata veya eksik varsa otonom düzeltilir.</a:t>
            </a:r>
            <a:endParaRPr lang="en-US" sz="8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B96"/>
          </a:solidFill>
          <a:ln w="12700">
            <a:solidFill>
              <a:srgbClr val="00EB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"/>
            <a:ext cx="3200400" cy="18288"/>
          </a:xfrm>
          <a:prstGeom prst="rect">
            <a:avLst/>
          </a:prstGeom>
          <a:solidFill>
            <a:srgbClr val="38CDF2"/>
          </a:solidFill>
          <a:ln w="12700">
            <a:solidFill>
              <a:srgbClr val="38CD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38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FİNANSAL ANALİZ │ BÜTÇE OPTİMİZASYONU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475488"/>
            <a:ext cx="8961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%50–%75 Gerçek Token Tasarrufu &amp; Finansal ROI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93268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Akıllı önbellekleme ve niyet duyarlı şema budama ile kurumsal yapay zekâ bütçelerinde devasa tasarruf</a:t>
            </a:r>
            <a:endParaRPr lang="en-US" sz="1050" dirty="0"/>
          </a:p>
        </p:txBody>
      </p:sp>
      <p:pic>
        <p:nvPicPr>
          <p:cNvPr id="7" name="Image 0" descr="C:\Users\Egemen\.gemini\antigravity\brain\dcb95c0d-0cd7-416b-9761-00f9df2db80f\scratch\tab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292608"/>
            <a:ext cx="1234440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6419088"/>
            <a:ext cx="10728655" cy="0"/>
          </a:xfrm>
          <a:prstGeom prst="line">
            <a:avLst/>
          </a:prstGeom>
          <a:noFill/>
          <a:ln w="12700">
            <a:solidFill>
              <a:srgbClr val="1A33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B66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 BOT V2 │ TRI-CORE ENTERPRISE AI PLATFORM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389120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66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GİZLİ &amp; KURUMSAL — YÖNETİM KURULU İÇİN HAZIRLANMIŞTIR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875520" y="6473952"/>
            <a:ext cx="1584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EB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Slayt 5 / 10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31520" y="1325880"/>
            <a:ext cx="5120640" cy="1481328"/>
          </a:xfrm>
          <a:prstGeom prst="roundRect">
            <a:avLst>
              <a:gd name="adj" fmla="val 4938"/>
            </a:avLst>
          </a:prstGeom>
          <a:solidFill>
            <a:srgbClr val="0D1813"/>
          </a:solidFill>
          <a:ln w="15240">
            <a:solidFill>
              <a:srgbClr val="1A332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1435608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B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TEKNOLOJİ 1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960120" y="165506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Caching (Prefix Stability)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60120" y="2002536"/>
            <a:ext cx="4663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2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Anthropic Claude, OpenAI ve Google Gemini mimarisinde değişmeyen sistem talimatları, araç tanımları ve kurumsal kurallar tek blok halinde sabitlenir. Önbellekten okunan girdilerde %90'a varan maliyet indirimi elde edilir.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731520" y="2926080"/>
            <a:ext cx="5120640" cy="1481328"/>
          </a:xfrm>
          <a:prstGeom prst="roundRect">
            <a:avLst>
              <a:gd name="adj" fmla="val 4938"/>
            </a:avLst>
          </a:prstGeom>
          <a:solidFill>
            <a:srgbClr val="0D1813"/>
          </a:solidFill>
          <a:ln w="15240">
            <a:solidFill>
              <a:srgbClr val="1A332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0120" y="3035808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TEKNOLOJİ 2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960120" y="325526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Niyet Duyarlı Araç Budama (Intent-Aware Pruning)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0120" y="3602736"/>
            <a:ext cx="4663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2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Sistemde 40+ araç bulunmasına rağmen, model her adımda tüm şemayı taşımaz. Kullanıcının niyetine göre yalnızca gerekli 4-5 araç dinamik filtrelenir; böylece her API çağrısında %60 token tasarrufu sağlanır.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731520" y="4526280"/>
            <a:ext cx="5120640" cy="1481328"/>
          </a:xfrm>
          <a:prstGeom prst="roundRect">
            <a:avLst>
              <a:gd name="adj" fmla="val 4938"/>
            </a:avLst>
          </a:prstGeom>
          <a:solidFill>
            <a:srgbClr val="0D1813"/>
          </a:solidFill>
          <a:ln w="15240">
            <a:solidFill>
              <a:srgbClr val="1A332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0120" y="4636008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TEKNOLOJİ 3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960120" y="485546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AST Sembol İskeleti (file_outline)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60120" y="5202936"/>
            <a:ext cx="4663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2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Ajan büyük bir dosyayı incelemek istediğinde 5.000 satırın tamamını yüklemez; yalnızca fonksiyon başlıkları, sınıflar ve tipler haritalanır. Yalnızca hedeflenen 30 satır okunarak bağlam şişmesi engellenir.</a:t>
            </a:r>
            <a:endParaRPr lang="en-US" sz="920" dirty="0"/>
          </a:p>
        </p:txBody>
      </p:sp>
      <p:sp>
        <p:nvSpPr>
          <p:cNvPr id="24" name="Shape 21"/>
          <p:cNvSpPr/>
          <p:nvPr/>
        </p:nvSpPr>
        <p:spPr>
          <a:xfrm>
            <a:off x="6080760" y="1325880"/>
            <a:ext cx="5376672" cy="3108960"/>
          </a:xfrm>
          <a:prstGeom prst="roundRect">
            <a:avLst>
              <a:gd name="adj" fmla="val 2353"/>
            </a:avLst>
          </a:prstGeom>
          <a:solidFill>
            <a:srgbClr val="0D1813"/>
          </a:solidFill>
          <a:ln w="15240">
            <a:solidFill>
              <a:srgbClr val="1A332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09360" y="148132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B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KURUMSAL BÜTÇE VE TASARRUF PROJEKSİYONU (YILLIK)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810512"/>
          <a:ext cx="4919472" cy="2423160"/>
        </p:xfrm>
        <a:graphic>
          <a:graphicData uri="http://schemas.openxmlformats.org/drawingml/2006/table">
            <a:tbl>
              <a:tblPr/>
              <a:tblGrid>
                <a:gridCol w="1229868"/>
                <a:gridCol w="1229868"/>
                <a:gridCol w="1229868"/>
                <a:gridCol w="1229868"/>
              </a:tblGrid>
              <a:tr h="6057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8CDF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Ekip Büyüklüğü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BA89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Geleneksel Araçlar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EB9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 Bot V2 (%68 Kazanç)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B8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 Şirket Kazancı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1B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 Mühendis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BA89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$30.000 / Yıl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EB9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$9.600 / Yıl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B8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+$20.400 / Yıl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1B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 Mühendis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BA89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$150.000 / Yıl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EB9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$48.000 / Yıl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B8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+$102.000 / Yıl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1B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 Mühendis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BA89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$300.000 / Yıl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EB9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$96.000 / Yıl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B8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+$204.000 / Yıl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1B"/>
                    </a:solidFill>
                  </a:tcPr>
                </a:tc>
              </a:tr>
            </a:tbl>
          </a:graphicData>
        </a:graphic>
      </p:graphicFrame>
      <p:sp>
        <p:nvSpPr>
          <p:cNvPr id="27" name="Shape 23"/>
          <p:cNvSpPr/>
          <p:nvPr/>
        </p:nvSpPr>
        <p:spPr>
          <a:xfrm>
            <a:off x="6080760" y="4572000"/>
            <a:ext cx="5376672" cy="1645920"/>
          </a:xfrm>
          <a:prstGeom prst="roundRect">
            <a:avLst>
              <a:gd name="adj" fmla="val 4444"/>
            </a:avLst>
          </a:prstGeom>
          <a:solidFill>
            <a:srgbClr val="142319"/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355080" y="4709160"/>
            <a:ext cx="4828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YATIRIMIN GERİ DÖNÜŞ SÜRESİ: SADECE 15 GÜN!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6355080" y="5074920"/>
            <a:ext cx="4828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E6F2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 Bot V2 kurumunuza dahil edildiği ilk aydan itibaren token giderlerini %68 aşağı çeker. 100 kişilik bir mühendislik kadrosunda her yıl $204.000 nakit tasarruf doğrudan şirket kârlılığına eklenir.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B96"/>
          </a:solidFill>
          <a:ln w="12700">
            <a:solidFill>
              <a:srgbClr val="00EB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"/>
            <a:ext cx="3200400" cy="18288"/>
          </a:xfrm>
          <a:prstGeom prst="rect">
            <a:avLst/>
          </a:prstGeom>
          <a:solidFill>
            <a:srgbClr val="38CDF2"/>
          </a:solidFill>
          <a:ln w="12700">
            <a:solidFill>
              <a:srgbClr val="38CD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38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GÜVENLİK &amp; KOD BÜTÜNLÜĞÜ │ GROUNDING ENGINE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475488"/>
            <a:ext cx="8961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%100 Deterministik Anti-Halüsinasyon Motoru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93268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Yapay zekanın varsayımsal tahminlerini engelleyen, sözdizimsel doğrulamayla kod bütünlüğünü garanti eden kalkan</a:t>
            </a:r>
            <a:endParaRPr lang="en-US" sz="1050" dirty="0"/>
          </a:p>
        </p:txBody>
      </p:sp>
      <p:pic>
        <p:nvPicPr>
          <p:cNvPr id="7" name="Image 0" descr="C:\Users\Egemen\.gemini\antigravity\brain\dcb95c0d-0cd7-416b-9761-00f9df2db80f\scratch\tab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292608"/>
            <a:ext cx="1234440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6419088"/>
            <a:ext cx="10728655" cy="0"/>
          </a:xfrm>
          <a:prstGeom prst="line">
            <a:avLst/>
          </a:prstGeom>
          <a:noFill/>
          <a:ln w="12700">
            <a:solidFill>
              <a:srgbClr val="1A33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B66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 BOT V2 │ TRI-CORE ENTERPRISE AI PLATFORM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389120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66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GİZLİ &amp; KURUMSAL — YÖNETİM KURULU İÇİN HAZIRLANMIŞTIR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875520" y="6473952"/>
            <a:ext cx="1584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EB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Slayt 6 / 10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31520" y="1325880"/>
            <a:ext cx="10728655" cy="1353312"/>
          </a:xfrm>
          <a:prstGeom prst="roundRect">
            <a:avLst>
              <a:gd name="adj" fmla="val 5405"/>
            </a:avLst>
          </a:prstGeom>
          <a:solidFill>
            <a:srgbClr val="0D1813"/>
          </a:solidFill>
          <a:ln w="15240">
            <a:solidFill>
              <a:srgbClr val="00EB9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8680" y="1463040"/>
            <a:ext cx="73152" cy="1078992"/>
          </a:xfrm>
          <a:prstGeom prst="roundRect">
            <a:avLst/>
          </a:prstGeom>
          <a:solidFill>
            <a:srgbClr val="00EB96"/>
          </a:solidFill>
          <a:ln w="12700">
            <a:solidFill>
              <a:srgbClr val="00EB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1560" y="1463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B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KATMAN 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5156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Read-Before-Write (RBW) Zorunluluğu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51560" y="20391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8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"Görmeden Düzenleme Yapılamaz" Mimarisi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217920" y="1490472"/>
            <a:ext cx="5029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2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bir dosyayı düzenlemeye veya yamalamaya çalışmadan önce, ilgili dosyanın en güncel disk kopyasını belleğe yüklemiş olmak zorundadır. Hafızada olmayan dosyada değişiklik girişimi doğrudan işletim sistemi seviyesinde engellenir; hayali satır düzenlemeleri sıfırlanır.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731520" y="2807208"/>
            <a:ext cx="10728655" cy="1353312"/>
          </a:xfrm>
          <a:prstGeom prst="roundRect">
            <a:avLst>
              <a:gd name="adj" fmla="val 5405"/>
            </a:avLst>
          </a:prstGeom>
          <a:solidFill>
            <a:srgbClr val="0D1813"/>
          </a:solidFill>
          <a:ln w="15240">
            <a:solidFill>
              <a:srgbClr val="38CD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68680" y="2944368"/>
            <a:ext cx="73152" cy="1078992"/>
          </a:xfrm>
          <a:prstGeom prst="roundRect">
            <a:avLst/>
          </a:prstGeom>
          <a:solidFill>
            <a:srgbClr val="38CDF2"/>
          </a:solidFill>
          <a:ln w="12700">
            <a:solidFill>
              <a:srgbClr val="38CD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51560" y="29443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KATMAN 2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51560" y="31729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Post-Write AST Sözdizim Denetimi &amp; Otomatik Rollback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51560" y="35204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8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"Bozuk Kod Asla Kaydedilemez" İlkesi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217920" y="2971800"/>
            <a:ext cx="5029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2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Bir dosyaya atomik yama uygulandığı mikrosaniyede yerleşik AST / Syntax derleyici çalıştırılır. Parantez kapanmaması, sözdizimi kırılması veya derleme arızası tespit edilirse anında Deterministik Rollback tetiklenir; dosya tek işlemde kusursuz haline geri döndürülür.</a:t>
            </a:r>
            <a:endParaRPr lang="en-US" sz="920" dirty="0"/>
          </a:p>
        </p:txBody>
      </p:sp>
      <p:sp>
        <p:nvSpPr>
          <p:cNvPr id="24" name="Shape 21"/>
          <p:cNvSpPr/>
          <p:nvPr/>
        </p:nvSpPr>
        <p:spPr>
          <a:xfrm>
            <a:off x="731520" y="4288536"/>
            <a:ext cx="10728655" cy="1353312"/>
          </a:xfrm>
          <a:prstGeom prst="roundRect">
            <a:avLst>
              <a:gd name="adj" fmla="val 5405"/>
            </a:avLst>
          </a:prstGeom>
          <a:solidFill>
            <a:srgbClr val="0D1813"/>
          </a:solidFill>
          <a:ln w="15240">
            <a:solidFill>
              <a:srgbClr val="FFB80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68680" y="4425696"/>
            <a:ext cx="73152" cy="1078992"/>
          </a:xfrm>
          <a:prstGeom prst="round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51560" y="442569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KATMAN 3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51560" y="46542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Claim-Evidence (Kanıt) Doğrulama Kapısı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051560" y="500176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8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"Söz Yetmez, Terminal Kanıtı Şarttır" Prensibi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217920" y="4453128"/>
            <a:ext cx="5029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2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Ajan bir görevi veya hata ayıklamayı "Tamamlandı" olarak işaretleyebilmek için derleme çıktısı, birim test raporu veya canlı log kanıtı sunmak zorundadır. Kanıtsız varsayımsal başarı beyanları mimari tarafından reddedilir.</a:t>
            </a:r>
            <a:endParaRPr lang="en-US" sz="920" dirty="0"/>
          </a:p>
        </p:txBody>
      </p:sp>
      <p:sp>
        <p:nvSpPr>
          <p:cNvPr id="30" name="Shape 27"/>
          <p:cNvSpPr/>
          <p:nvPr/>
        </p:nvSpPr>
        <p:spPr>
          <a:xfrm>
            <a:off x="731520" y="5806440"/>
            <a:ext cx="10728655" cy="502920"/>
          </a:xfrm>
          <a:prstGeom prst="roundRect">
            <a:avLst>
              <a:gd name="adj" fmla="val 10909"/>
            </a:avLst>
          </a:prstGeom>
          <a:solidFill>
            <a:srgbClr val="050A07"/>
          </a:solidFill>
          <a:ln w="12700">
            <a:solidFill>
              <a:srgbClr val="1A332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14400" y="587044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B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MemoryGuard Bekçisi &amp; C# Win32 DLL: 38 MB RAM hedefiyle çalışır; bellek sızıntılarını otonom GC ile temizler ve sub-40ms işletim sistemi hâkimiyeti sağlar.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B96"/>
          </a:solidFill>
          <a:ln w="12700">
            <a:solidFill>
              <a:srgbClr val="00EB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"/>
            <a:ext cx="3200400" cy="18288"/>
          </a:xfrm>
          <a:prstGeom prst="rect">
            <a:avLst/>
          </a:prstGeom>
          <a:solidFill>
            <a:srgbClr val="38CDF2"/>
          </a:solidFill>
          <a:ln w="12700">
            <a:solidFill>
              <a:srgbClr val="38CD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38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MOBİL KONTROL │ SIFIR BULUT MALİYETİ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475488"/>
            <a:ext cx="8961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Sıfır-Backend Yerel Mobil Telegram Ağ Geçidi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93268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Masanızdan uzaktayken bile iş istasyonunuzu ve projelerinizi akıllı telefonunuzdan güvenle yönetin</a:t>
            </a:r>
            <a:endParaRPr lang="en-US" sz="1050" dirty="0"/>
          </a:p>
        </p:txBody>
      </p:sp>
      <p:pic>
        <p:nvPicPr>
          <p:cNvPr id="7" name="Image 0" descr="C:\Users\Egemen\.gemini\antigravity\brain\dcb95c0d-0cd7-416b-9761-00f9df2db80f\scratch\tab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292608"/>
            <a:ext cx="1234440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6419088"/>
            <a:ext cx="10728655" cy="0"/>
          </a:xfrm>
          <a:prstGeom prst="line">
            <a:avLst/>
          </a:prstGeom>
          <a:noFill/>
          <a:ln w="12700">
            <a:solidFill>
              <a:srgbClr val="1A33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B66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 BOT V2 │ TRI-CORE ENTERPRISE AI PLATFORM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389120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66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GİZLİ &amp; KURUMSAL — YÖNETİM KURULU İÇİN HAZIRLANMIŞTIR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875520" y="6473952"/>
            <a:ext cx="1584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EB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Slayt 7 / 10</a:t>
            </a:r>
            <a:endParaRPr lang="en-US" sz="900" dirty="0"/>
          </a:p>
        </p:txBody>
      </p:sp>
      <p:pic>
        <p:nvPicPr>
          <p:cNvPr id="12" name="Image 1" descr="C:\Users\Egemen\.gemini\antigravity\brain\dcb95c0d-0cd7-416b-9761-00f9df2db80f\scratch\tbot_v2_telegram_m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217920" cy="4892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178040" y="1325880"/>
            <a:ext cx="4279392" cy="1508760"/>
          </a:xfrm>
          <a:prstGeom prst="roundRect">
            <a:avLst>
              <a:gd name="adj" fmla="val 4848"/>
            </a:avLst>
          </a:prstGeom>
          <a:solidFill>
            <a:srgbClr val="0D1813"/>
          </a:solidFill>
          <a:ln w="15240">
            <a:solidFill>
              <a:srgbClr val="00EB9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360920" y="1435608"/>
            <a:ext cx="3913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B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SIFIR SUNUCU &amp; ALTYAPI MALİYETİ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7360920" y="1655064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Sabit IP ve Bulut Faturası Yok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360920" y="1984248"/>
            <a:ext cx="39136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 açma (port-forwarding), AWS Lambda veya harici sunucu gerekmez. Yerel iş istasyonunuzdaki T Bot V2, doğrudan Telegram Bot API üzerinden giden güvenli Long-Polling bağlantısıyla haberleşir.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7178040" y="2953512"/>
            <a:ext cx="4279392" cy="1508760"/>
          </a:xfrm>
          <a:prstGeom prst="roundRect">
            <a:avLst>
              <a:gd name="adj" fmla="val 4848"/>
            </a:avLst>
          </a:prstGeom>
          <a:solidFill>
            <a:srgbClr val="0D1813"/>
          </a:solidFill>
          <a:ln w="15240">
            <a:solidFill>
              <a:srgbClr val="38CDF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360920" y="3063240"/>
            <a:ext cx="3913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GÜVENLİK &amp; MOBİL ONAY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7360920" y="3282696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İnteraktif Butonlar: [✓ Onayla] / [✕ Reddet]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360920" y="3611880"/>
            <a:ext cx="39136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Kritik dosya değiştirme veya terminal komutlarında cep telefonunuza anında interaktif butonlar düşer. Siz telefonunuzdan onay vermeden iş istasyonunuzda tek satır kod bile çalıştırılamaz.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7178040" y="4581144"/>
            <a:ext cx="4279392" cy="1508760"/>
          </a:xfrm>
          <a:prstGeom prst="roundRect">
            <a:avLst>
              <a:gd name="adj" fmla="val 4848"/>
            </a:avLst>
          </a:prstGeom>
          <a:solidFill>
            <a:srgbClr val="0D1813"/>
          </a:solidFill>
          <a:ln w="15240">
            <a:solidFill>
              <a:srgbClr val="FFB80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360920" y="4690872"/>
            <a:ext cx="3913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CANLI TELEMETRİ &amp; DENETİM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7360920" y="4910328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Masaüstü Canlı Telemetrisi (/screenshot)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360920" y="5239512"/>
            <a:ext cx="39136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Ofis dışındayken Telegram sohbetine /screenshot komutu vererek bilgisayar ekranınızın anlık yüksek çözünürlüklü ekran görüntüsünü alabilir; derleme ve testleri uzaktan izleyebilirsiniz.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B96"/>
          </a:solidFill>
          <a:ln w="12700">
            <a:solidFill>
              <a:srgbClr val="00EB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"/>
            <a:ext cx="3200400" cy="18288"/>
          </a:xfrm>
          <a:prstGeom prst="rect">
            <a:avLst/>
          </a:prstGeom>
          <a:solidFill>
            <a:srgbClr val="38CDF2"/>
          </a:solidFill>
          <a:ln w="12700">
            <a:solidFill>
              <a:srgbClr val="38CD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38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REKABET MATRİSİ │ ENDÜSTRİYEL KIYASLAMA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475488"/>
            <a:ext cx="8961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Endüstriyel Rakip Analizi ve Ezici Üstünlük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93268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 Bot V2'nin pazar lideri çözümlere karşı tüm mimari, maliyet ve güvenlik boyutlarında açık farkı</a:t>
            </a:r>
            <a:endParaRPr lang="en-US" sz="1050" dirty="0"/>
          </a:p>
        </p:txBody>
      </p:sp>
      <p:pic>
        <p:nvPicPr>
          <p:cNvPr id="7" name="Image 0" descr="C:\Users\Egemen\.gemini\antigravity\brain\dcb95c0d-0cd7-416b-9761-00f9df2db80f\scratch\tab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292608"/>
            <a:ext cx="1234440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6419088"/>
            <a:ext cx="10728655" cy="0"/>
          </a:xfrm>
          <a:prstGeom prst="line">
            <a:avLst/>
          </a:prstGeom>
          <a:noFill/>
          <a:ln w="12700">
            <a:solidFill>
              <a:srgbClr val="1A33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B66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 BOT V2 │ TRI-CORE ENTERPRISE AI PLATFORM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389120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66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GİZLİ &amp; KURUMSAL — YÖNETİM KURULU İÇİN HAZIRLANMIŞTIR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875520" y="6473952"/>
            <a:ext cx="1584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EB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Slayt 8 / 10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25880"/>
          <a:ext cx="6583680" cy="4892040"/>
        </p:xfrm>
        <a:graphic>
          <a:graphicData uri="http://schemas.openxmlformats.org/drawingml/2006/table">
            <a:tbl>
              <a:tblPr/>
              <a:tblGrid>
                <a:gridCol w="1316736"/>
                <a:gridCol w="1316736"/>
                <a:gridCol w="1316736"/>
                <a:gridCol w="1316736"/>
                <a:gridCol w="1316736"/>
              </a:tblGrid>
              <a:tr h="4447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8CDF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Kriter / Özellik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EB9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 BOT V2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3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8BA89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Claude Code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8BA89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OpenCode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8BA89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Grok Bot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1B"/>
                    </a:solidFill>
                  </a:tcPr>
                </a:tc>
              </a:tr>
              <a:tr h="4447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Mimari Kapsamı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EB9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Tri-Core (Kod+OS+Bot)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A89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Yalnızca CLI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A89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Yalnızca CLI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A89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Web/X Botu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</a:tr>
              <a:tr h="4447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Token Tasarrufu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EB9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%50 – %75 Tasarruf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A89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%20 – %25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A89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%0 – %10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A89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%10 – %15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</a:tr>
              <a:tr h="4447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Model Özgürlüğü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EB9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Agnostik (Çoklu API)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A89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Tek Model (Claude)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A89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Kısıtlı API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A89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Tek Model (Grok)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</a:tr>
              <a:tr h="4447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Anti-Halüsinasyon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EB9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%100 Rollback Kapısı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A89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%78 Varsayımsal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A89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%62 Riskli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A89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%70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</a:tr>
              <a:tr h="4447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Sistem RAM İzi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EB9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~38 MB (Ultra Hafif)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A89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340 MB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A89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520 MB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A89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410 MB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</a:tr>
              <a:tr h="4447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Sıfır-Backend Telegram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EB9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Yerleşik (Long-Poll)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A89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Bulunmuyor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A89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Bulunmuyor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A89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Bulunmuyor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</a:tr>
              <a:tr h="4447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Mobil Onay Butonları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EB9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Mevcut ([✓]/[✕])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A89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Bulunmuyor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A89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Bulunmuyor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A89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Bulunmuyor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</a:tr>
              <a:tr h="4447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Masaüstü OS Kontrolü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EB9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Win32 C# DLL (&lt;40ms)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A89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Bulunmuyor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A89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Kısmi / Yavaş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A89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Bulunmuyor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</a:tr>
              <a:tr h="4447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Aşamalı Öz-Onarım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EB9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Mevcut (Ultracode)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A89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Tek Döngü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A89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Bulunmuyor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A89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Bulunmuyor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</a:tr>
              <a:tr h="4447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Anahtar Şifreleme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EB9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Windows DPAPI Kasa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A89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Düz Metin / Env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A89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Düz Metin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A89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Bulut Hesabı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A3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13"/>
                    </a:solidFill>
                  </a:tcPr>
                </a:tc>
              </a:tr>
            </a:tbl>
          </a:graphicData>
        </a:graphic>
      </p:graphicFrame>
      <p:pic>
        <p:nvPicPr>
          <p:cNvPr id="13" name="Image 1" descr="C:\Users\Egemen\.gemini\antigravity\brain\dcb95c0d-0cd7-416b-9761-00f9df2db80f\scratch\tbot_v2_competitor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325880"/>
            <a:ext cx="3913632" cy="32004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543800" y="4709160"/>
            <a:ext cx="3913632" cy="1508760"/>
          </a:xfrm>
          <a:prstGeom prst="roundRect">
            <a:avLst>
              <a:gd name="adj" fmla="val 4848"/>
            </a:avLst>
          </a:prstGeom>
          <a:solidFill>
            <a:srgbClr val="0D1813"/>
          </a:solidFill>
          <a:ln w="15240">
            <a:solidFill>
              <a:srgbClr val="00EB9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7726680" y="4828032"/>
            <a:ext cx="3547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B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TARTIŞMASIZ ENDÜSTRİYEL LİDERLİK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7726680" y="5102352"/>
            <a:ext cx="354787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E6F2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 Bot V2; salt bir komut satırı kodlayıcısı değildir. Kodlama hassasiyetini masaüstü kontrolü ve mobil yönetimle harmanlayan, bütçeyi koruyan tam teşekküllü bir yazılım fabrikasıdır.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B96"/>
          </a:solidFill>
          <a:ln w="12700">
            <a:solidFill>
              <a:srgbClr val="00EB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"/>
            <a:ext cx="3200400" cy="18288"/>
          </a:xfrm>
          <a:prstGeom prst="rect">
            <a:avLst/>
          </a:prstGeom>
          <a:solidFill>
            <a:srgbClr val="38CDF2"/>
          </a:solidFill>
          <a:ln w="12700">
            <a:solidFill>
              <a:srgbClr val="38CD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38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DEVREYE ALMA │ SIFIR YAPILANDIRMA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475488"/>
            <a:ext cx="8961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Uzaktan Tek Komutla Kurulum ve Hızlı Başlangıç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93268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Tüm işletim sistemlerinde saniyeler içinde kurulan, harici bağımlılık karmaşası olmayan hazır dağıtım</a:t>
            </a:r>
            <a:endParaRPr lang="en-US" sz="1050" dirty="0"/>
          </a:p>
        </p:txBody>
      </p:sp>
      <p:pic>
        <p:nvPicPr>
          <p:cNvPr id="7" name="Image 0" descr="C:\Users\Egemen\.gemini\antigravity\brain\dcb95c0d-0cd7-416b-9761-00f9df2db80f\scratch\tab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292608"/>
            <a:ext cx="1234440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6419088"/>
            <a:ext cx="10728655" cy="0"/>
          </a:xfrm>
          <a:prstGeom prst="line">
            <a:avLst/>
          </a:prstGeom>
          <a:noFill/>
          <a:ln w="12700">
            <a:solidFill>
              <a:srgbClr val="1A33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B66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 BOT V2 │ TRI-CORE ENTERPRISE AI PLATFORM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389120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66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GİZLİ &amp; KURUMSAL — YÖNETİM KURULU İÇİN HAZIRLANMIŞTIR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875520" y="6473952"/>
            <a:ext cx="1584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EB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Slayt 9 / 10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31520" y="132588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0D1813"/>
          </a:solidFill>
          <a:ln w="15240">
            <a:solidFill>
              <a:srgbClr val="00EB9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1463040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B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İŞ İSTASYONLARI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914400" y="1673352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PowerShell (Önerilen)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68680" y="2057400"/>
            <a:ext cx="3154680" cy="1097280"/>
          </a:xfrm>
          <a:prstGeom prst="roundRect">
            <a:avLst>
              <a:gd name="adj" fmla="val 4167"/>
            </a:avLst>
          </a:prstGeom>
          <a:solidFill>
            <a:srgbClr val="050A07"/>
          </a:solidFill>
          <a:ln w="12700">
            <a:solidFill>
              <a:srgbClr val="1A332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2688" y="2130552"/>
            <a:ext cx="30266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38C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irm https://raw.githubusercontent.com/egemenkrdsek-boop/t-bot/main/scripts/install.ps1 | iex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914400" y="326440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Otomatik Node.js ortam denetimi, PATH değişkeni kaydı ve Windows DPAPI güvenlik entegrasyonu.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4379976" y="132588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0D1813"/>
          </a:solidFill>
          <a:ln w="15240">
            <a:solidFill>
              <a:srgbClr val="38CD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62856" y="1463040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&amp; MACOS ORTAMLARI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562856" y="1673352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Bash / Zsh Terminali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17136" y="2057400"/>
            <a:ext cx="3154680" cy="1097280"/>
          </a:xfrm>
          <a:prstGeom prst="roundRect">
            <a:avLst>
              <a:gd name="adj" fmla="val 4167"/>
            </a:avLst>
          </a:prstGeom>
          <a:solidFill>
            <a:srgbClr val="050A07"/>
          </a:solidFill>
          <a:ln w="12700">
            <a:solidFill>
              <a:srgbClr val="1A332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81144" y="2130552"/>
            <a:ext cx="30266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38C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https://raw.githubusercontent.com/egemenkrdsek-boop/t-bot/main/scripts/install.sh | sh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4562856" y="326440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POSIX uyumlu, sıfır harici bağımlılıkla Ubuntu, Debian, macOS (Homebrew uyumlu) hazır dağıtım.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8028432" y="132588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0D1813"/>
          </a:solidFill>
          <a:ln w="15240">
            <a:solidFill>
              <a:srgbClr val="FFB8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11312" y="1463040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NPM / NODE.JS DAĞITIMI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8211312" y="1673352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Terminali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165592" y="2057400"/>
            <a:ext cx="3154680" cy="1097280"/>
          </a:xfrm>
          <a:prstGeom prst="roundRect">
            <a:avLst>
              <a:gd name="adj" fmla="val 4167"/>
            </a:avLst>
          </a:prstGeom>
          <a:solidFill>
            <a:srgbClr val="050A07"/>
          </a:solidFill>
          <a:ln w="12700">
            <a:solidFill>
              <a:srgbClr val="1A332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29600" y="2130552"/>
            <a:ext cx="30266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38C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--global git+https://github.com/egemenkrdsek-boop/t-bot.git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8211312" y="326440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(&gt;= 20.3) kurulu tüm ortamlarda tbot komutunu küresel olarak sisteme anında kaydeder.</a:t>
            </a:r>
            <a:endParaRPr lang="en-US" sz="880" dirty="0"/>
          </a:p>
        </p:txBody>
      </p:sp>
      <p:sp>
        <p:nvSpPr>
          <p:cNvPr id="30" name="Shape 27"/>
          <p:cNvSpPr/>
          <p:nvPr/>
        </p:nvSpPr>
        <p:spPr>
          <a:xfrm>
            <a:off x="731520" y="4343400"/>
            <a:ext cx="10728655" cy="1874520"/>
          </a:xfrm>
          <a:prstGeom prst="roundRect">
            <a:avLst>
              <a:gd name="adj" fmla="val 3902"/>
            </a:avLst>
          </a:prstGeom>
          <a:solidFill>
            <a:srgbClr val="0D1813"/>
          </a:solidFill>
          <a:ln w="15240">
            <a:solidFill>
              <a:srgbClr val="1A332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60120" y="448056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B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İLK ÇALIŞTIRMA &amp; 60 SANİYELİK DOĞRULAMA HATTI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960120" y="480060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12221B"/>
          </a:solidFill>
          <a:ln w="12700">
            <a:solidFill>
              <a:srgbClr val="1A332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97280" y="489204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C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ADIM 1 │ tbot doctor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097280" y="5129784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Ortam Sağlık Denetimi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1097280" y="5422392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İşletim sistemi, Git sürümü, PATH değişkenleri ve donanım izinlerini otomatik denetler.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617720" y="480060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12221B"/>
          </a:solidFill>
          <a:ln w="12700">
            <a:solidFill>
              <a:srgbClr val="1A332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54880" y="489204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C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ADIM 2 │ tbot config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4754880" y="5129784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ve Sağlayıcı Sihirbazı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4754880" y="5422392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Gemini, Claude veya OpenAI anahtarlarını girin; Windows DPAPI ile donanım düzeyinde şifrelensin.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8275320" y="480060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12221B"/>
          </a:solidFill>
          <a:ln w="12700">
            <a:solidFill>
              <a:srgbClr val="1A332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412480" y="489204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C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ADIM 3 │ tbot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8412480" y="5129784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Canlı Siber TUI Oturumu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8412480" y="5422392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Siber-minimalist terminali açın veya "tbot --bot" ile Telegram botunu telefonunuzdan bağlayın!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B96"/>
          </a:solidFill>
          <a:ln w="12700">
            <a:solidFill>
              <a:srgbClr val="00EB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"/>
            <a:ext cx="3200400" cy="18288"/>
          </a:xfrm>
          <a:prstGeom prst="rect">
            <a:avLst/>
          </a:prstGeom>
          <a:solidFill>
            <a:srgbClr val="38CDF2"/>
          </a:solidFill>
          <a:ln w="12700">
            <a:solidFill>
              <a:srgbClr val="38CD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38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OPERASYONEL REFERANS │ TAM KOMUT SÜİTİ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475488"/>
            <a:ext cx="8961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Kullanım Kılavuzu &amp; Komut Referansı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93268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Hem terminal profesyonelleri hem de mobil yöneticiler için zengin komut ve çalıştırma seçenekleri</a:t>
            </a:r>
            <a:endParaRPr lang="en-US" sz="1050" dirty="0"/>
          </a:p>
        </p:txBody>
      </p:sp>
      <p:pic>
        <p:nvPicPr>
          <p:cNvPr id="7" name="Image 0" descr="C:\Users\Egemen\.gemini\antigravity\brain\dcb95c0d-0cd7-416b-9761-00f9df2db80f\scratch\tab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292608"/>
            <a:ext cx="1234440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6419088"/>
            <a:ext cx="10728655" cy="0"/>
          </a:xfrm>
          <a:prstGeom prst="line">
            <a:avLst/>
          </a:prstGeom>
          <a:noFill/>
          <a:ln w="12700">
            <a:solidFill>
              <a:srgbClr val="1A33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B66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 BOT V2 │ TRI-CORE ENTERPRISE AI PLATFORM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389120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66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GİZLİ &amp; KURUMSAL — YÖNETİM KURULU İÇİN HAZIRLANMIŞTIR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875520" y="6473952"/>
            <a:ext cx="1584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EB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Slayt 10 / 10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31520" y="132588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0D1813"/>
          </a:solidFill>
          <a:ln w="15240">
            <a:solidFill>
              <a:srgbClr val="1A332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148132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B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TEMEL CLI ÇALIŞTIRMA BAYRAKLARI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960120" y="1828800"/>
            <a:ext cx="4754880" cy="493776"/>
          </a:xfrm>
          <a:prstGeom prst="roundRect">
            <a:avLst>
              <a:gd name="adj" fmla="val 9259"/>
            </a:avLst>
          </a:prstGeom>
          <a:solidFill>
            <a:srgbClr val="12221B"/>
          </a:solidFill>
          <a:ln w="12700">
            <a:solidFill>
              <a:srgbClr val="1A332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51560" y="188366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C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tbot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017520" y="1883664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Canlı Siber-Minimalist TUI oturumunu açar (Önerilen varsayılan)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960120" y="2395728"/>
            <a:ext cx="4754880" cy="493776"/>
          </a:xfrm>
          <a:prstGeom prst="roundRect">
            <a:avLst>
              <a:gd name="adj" fmla="val 9259"/>
            </a:avLst>
          </a:prstGeom>
          <a:solidFill>
            <a:srgbClr val="12221B"/>
          </a:solidFill>
          <a:ln w="12700">
            <a:solidFill>
              <a:srgbClr val="1A332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51560" y="24505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C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tbot "src/auth fixle"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017520" y="245059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Tek seferlik komut istemi; görevi yürütür ve anında raporlar</a:t>
            </a:r>
            <a:endParaRPr lang="en-US" sz="820" dirty="0"/>
          </a:p>
        </p:txBody>
      </p:sp>
      <p:sp>
        <p:nvSpPr>
          <p:cNvPr id="20" name="Shape 17"/>
          <p:cNvSpPr/>
          <p:nvPr/>
        </p:nvSpPr>
        <p:spPr>
          <a:xfrm>
            <a:off x="960120" y="2962656"/>
            <a:ext cx="4754880" cy="493776"/>
          </a:xfrm>
          <a:prstGeom prst="roundRect">
            <a:avLst>
              <a:gd name="adj" fmla="val 9259"/>
            </a:avLst>
          </a:prstGeom>
          <a:solidFill>
            <a:srgbClr val="12221B"/>
          </a:solidFill>
          <a:ln w="12700">
            <a:solidFill>
              <a:srgbClr val="1A332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51560" y="3017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C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tbot --bot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017520" y="301752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Sıfır-Backend Telegram Ağ Geçidini başlatır ve Long-Polling açar</a:t>
            </a:r>
            <a:endParaRPr lang="en-US" sz="820" dirty="0"/>
          </a:p>
        </p:txBody>
      </p:sp>
      <p:sp>
        <p:nvSpPr>
          <p:cNvPr id="23" name="Shape 20"/>
          <p:cNvSpPr/>
          <p:nvPr/>
        </p:nvSpPr>
        <p:spPr>
          <a:xfrm>
            <a:off x="960120" y="3529584"/>
            <a:ext cx="4754880" cy="493776"/>
          </a:xfrm>
          <a:prstGeom prst="roundRect">
            <a:avLst>
              <a:gd name="adj" fmla="val 9259"/>
            </a:avLst>
          </a:prstGeom>
          <a:solidFill>
            <a:srgbClr val="12221B"/>
          </a:solidFill>
          <a:ln w="12700">
            <a:solidFill>
              <a:srgbClr val="1A332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51560" y="35844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C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tbot --ultracode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017520" y="358444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aşamalı öz-onarımlı ve bağımsız denetimli mühendislik modu</a:t>
            </a:r>
            <a:endParaRPr lang="en-US" sz="820" dirty="0"/>
          </a:p>
        </p:txBody>
      </p:sp>
      <p:sp>
        <p:nvSpPr>
          <p:cNvPr id="26" name="Shape 23"/>
          <p:cNvSpPr/>
          <p:nvPr/>
        </p:nvSpPr>
        <p:spPr>
          <a:xfrm>
            <a:off x="960120" y="4096512"/>
            <a:ext cx="4754880" cy="493776"/>
          </a:xfrm>
          <a:prstGeom prst="roundRect">
            <a:avLst>
              <a:gd name="adj" fmla="val 9259"/>
            </a:avLst>
          </a:prstGeom>
          <a:solidFill>
            <a:srgbClr val="12221B"/>
          </a:solidFill>
          <a:ln w="12700">
            <a:solidFill>
              <a:srgbClr val="1A332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51560" y="415137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C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tbot --yolo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3017520" y="4151376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Otonom hızlı mod; araç onaylarını beklemeden doğrudan uygular</a:t>
            </a:r>
            <a:endParaRPr lang="en-US" sz="820" dirty="0"/>
          </a:p>
        </p:txBody>
      </p:sp>
      <p:sp>
        <p:nvSpPr>
          <p:cNvPr id="29" name="Shape 26"/>
          <p:cNvSpPr/>
          <p:nvPr/>
        </p:nvSpPr>
        <p:spPr>
          <a:xfrm>
            <a:off x="960120" y="4663440"/>
            <a:ext cx="4754880" cy="493776"/>
          </a:xfrm>
          <a:prstGeom prst="roundRect">
            <a:avLst>
              <a:gd name="adj" fmla="val 9259"/>
            </a:avLst>
          </a:prstGeom>
          <a:solidFill>
            <a:srgbClr val="12221B"/>
          </a:solidFill>
          <a:ln w="12700">
            <a:solidFill>
              <a:srgbClr val="1A332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51560" y="471830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C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tbot --effort high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3017520" y="4718304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Karmaşık mimariler için derin akıl yürütme (Reasoning) modu</a:t>
            </a:r>
            <a:endParaRPr lang="en-US" sz="820" dirty="0"/>
          </a:p>
        </p:txBody>
      </p:sp>
      <p:sp>
        <p:nvSpPr>
          <p:cNvPr id="32" name="Shape 29"/>
          <p:cNvSpPr/>
          <p:nvPr/>
        </p:nvSpPr>
        <p:spPr>
          <a:xfrm>
            <a:off x="6248095" y="132588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0D1813"/>
          </a:solidFill>
          <a:ln w="15240">
            <a:solidFill>
              <a:srgbClr val="1A332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73952" y="148132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İNTERAKTİF SLASH ( / ) KOMUTLARI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473952" y="1828800"/>
            <a:ext cx="4754880" cy="420624"/>
          </a:xfrm>
          <a:prstGeom prst="roundRect">
            <a:avLst>
              <a:gd name="adj" fmla="val 10870"/>
            </a:avLst>
          </a:prstGeom>
          <a:solidFill>
            <a:srgbClr val="12221B"/>
          </a:solidFill>
          <a:ln w="12700">
            <a:solidFill>
              <a:srgbClr val="1A332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65392" y="186537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/ultracode [on|off]</a:t>
            </a:r>
            <a:endParaRPr lang="en-US" sz="820" dirty="0"/>
          </a:p>
        </p:txBody>
      </p:sp>
      <p:sp>
        <p:nvSpPr>
          <p:cNvPr id="36" name="Text 33"/>
          <p:cNvSpPr/>
          <p:nvPr/>
        </p:nvSpPr>
        <p:spPr>
          <a:xfrm>
            <a:off x="8595360" y="1865376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aşamalı öz-onarım hattını açar/kapatır</a:t>
            </a:r>
            <a:endParaRPr lang="en-US" sz="820" dirty="0"/>
          </a:p>
        </p:txBody>
      </p:sp>
      <p:sp>
        <p:nvSpPr>
          <p:cNvPr id="37" name="Shape 34"/>
          <p:cNvSpPr/>
          <p:nvPr/>
        </p:nvSpPr>
        <p:spPr>
          <a:xfrm>
            <a:off x="6473952" y="2322576"/>
            <a:ext cx="4754880" cy="420624"/>
          </a:xfrm>
          <a:prstGeom prst="roundRect">
            <a:avLst>
              <a:gd name="adj" fmla="val 10870"/>
            </a:avLst>
          </a:prstGeom>
          <a:solidFill>
            <a:srgbClr val="12221B"/>
          </a:solidFill>
          <a:ln w="12700">
            <a:solidFill>
              <a:srgbClr val="1A332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565392" y="23591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/goal &lt;hedef&gt;</a:t>
            </a:r>
            <a:endParaRPr lang="en-US" sz="820" dirty="0"/>
          </a:p>
        </p:txBody>
      </p:sp>
      <p:sp>
        <p:nvSpPr>
          <p:cNvPr id="39" name="Text 36"/>
          <p:cNvSpPr/>
          <p:nvPr/>
        </p:nvSpPr>
        <p:spPr>
          <a:xfrm>
            <a:off x="8595360" y="2359152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Çok adımlı otonom hedef planlayıcıyı başlatır</a:t>
            </a:r>
            <a:endParaRPr lang="en-US" sz="820" dirty="0"/>
          </a:p>
        </p:txBody>
      </p:sp>
      <p:sp>
        <p:nvSpPr>
          <p:cNvPr id="40" name="Shape 37"/>
          <p:cNvSpPr/>
          <p:nvPr/>
        </p:nvSpPr>
        <p:spPr>
          <a:xfrm>
            <a:off x="6473952" y="2816352"/>
            <a:ext cx="4754880" cy="420624"/>
          </a:xfrm>
          <a:prstGeom prst="roundRect">
            <a:avLst>
              <a:gd name="adj" fmla="val 10870"/>
            </a:avLst>
          </a:prstGeom>
          <a:solidFill>
            <a:srgbClr val="12221B"/>
          </a:solidFill>
          <a:ln w="12700">
            <a:solidFill>
              <a:srgbClr val="1A332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565392" y="28529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/subagents &lt;istek&gt;</a:t>
            </a:r>
            <a:endParaRPr lang="en-US" sz="820" dirty="0"/>
          </a:p>
        </p:txBody>
      </p:sp>
      <p:sp>
        <p:nvSpPr>
          <p:cNvPr id="42" name="Text 39"/>
          <p:cNvSpPr/>
          <p:nvPr/>
        </p:nvSpPr>
        <p:spPr>
          <a:xfrm>
            <a:off x="8595360" y="285292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Paralel salt-okunur alt ajan araştırması</a:t>
            </a:r>
            <a:endParaRPr lang="en-US" sz="820" dirty="0"/>
          </a:p>
        </p:txBody>
      </p:sp>
      <p:sp>
        <p:nvSpPr>
          <p:cNvPr id="43" name="Shape 40"/>
          <p:cNvSpPr/>
          <p:nvPr/>
        </p:nvSpPr>
        <p:spPr>
          <a:xfrm>
            <a:off x="6473952" y="3310128"/>
            <a:ext cx="4754880" cy="420624"/>
          </a:xfrm>
          <a:prstGeom prst="roundRect">
            <a:avLst>
              <a:gd name="adj" fmla="val 10870"/>
            </a:avLst>
          </a:prstGeom>
          <a:solidFill>
            <a:srgbClr val="12221B"/>
          </a:solidFill>
          <a:ln w="12700">
            <a:solidFill>
              <a:srgbClr val="1A332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565392" y="334670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/tokens</a:t>
            </a:r>
            <a:endParaRPr lang="en-US" sz="820" dirty="0"/>
          </a:p>
        </p:txBody>
      </p:sp>
      <p:sp>
        <p:nvSpPr>
          <p:cNvPr id="45" name="Text 42"/>
          <p:cNvSpPr/>
          <p:nvPr/>
        </p:nvSpPr>
        <p:spPr>
          <a:xfrm>
            <a:off x="8595360" y="3346704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Anlık token tasarrufu ve maliyet raporunu döker</a:t>
            </a:r>
            <a:endParaRPr lang="en-US" sz="820" dirty="0"/>
          </a:p>
        </p:txBody>
      </p:sp>
      <p:sp>
        <p:nvSpPr>
          <p:cNvPr id="46" name="Shape 43"/>
          <p:cNvSpPr/>
          <p:nvPr/>
        </p:nvSpPr>
        <p:spPr>
          <a:xfrm>
            <a:off x="6473952" y="3803904"/>
            <a:ext cx="4754880" cy="420624"/>
          </a:xfrm>
          <a:prstGeom prst="roundRect">
            <a:avLst>
              <a:gd name="adj" fmla="val 10870"/>
            </a:avLst>
          </a:prstGeom>
          <a:solidFill>
            <a:srgbClr val="12221B"/>
          </a:solidFill>
          <a:ln w="12700">
            <a:solidFill>
              <a:srgbClr val="1A3324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565392" y="38404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/memory &amp; /gc</a:t>
            </a:r>
            <a:endParaRPr lang="en-US" sz="820" dirty="0"/>
          </a:p>
        </p:txBody>
      </p:sp>
      <p:sp>
        <p:nvSpPr>
          <p:cNvPr id="48" name="Text 45"/>
          <p:cNvSpPr/>
          <p:nvPr/>
        </p:nvSpPr>
        <p:spPr>
          <a:xfrm>
            <a:off x="8595360" y="384048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RAM kullanımını gösterir ve temizlik yapar</a:t>
            </a:r>
            <a:endParaRPr lang="en-US" sz="820" dirty="0"/>
          </a:p>
        </p:txBody>
      </p:sp>
      <p:sp>
        <p:nvSpPr>
          <p:cNvPr id="49" name="Shape 46"/>
          <p:cNvSpPr/>
          <p:nvPr/>
        </p:nvSpPr>
        <p:spPr>
          <a:xfrm>
            <a:off x="6473952" y="4297680"/>
            <a:ext cx="4754880" cy="420624"/>
          </a:xfrm>
          <a:prstGeom prst="roundRect">
            <a:avLst>
              <a:gd name="adj" fmla="val 10870"/>
            </a:avLst>
          </a:prstGeom>
          <a:solidFill>
            <a:srgbClr val="12221B"/>
          </a:solidFill>
          <a:ln w="12700">
            <a:solidFill>
              <a:srgbClr val="1A3324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565392" y="433425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/remember &lt;k&gt;=&lt;v&gt;</a:t>
            </a:r>
            <a:endParaRPr lang="en-US" sz="820" dirty="0"/>
          </a:p>
        </p:txBody>
      </p:sp>
      <p:sp>
        <p:nvSpPr>
          <p:cNvPr id="51" name="Text 48"/>
          <p:cNvSpPr/>
          <p:nvPr/>
        </p:nvSpPr>
        <p:spPr>
          <a:xfrm>
            <a:off x="8595360" y="4334256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Kalıcı kurumsal proje kuralı kaydeder</a:t>
            </a:r>
            <a:endParaRPr lang="en-US" sz="820" dirty="0"/>
          </a:p>
        </p:txBody>
      </p:sp>
      <p:sp>
        <p:nvSpPr>
          <p:cNvPr id="52" name="Shape 49"/>
          <p:cNvSpPr/>
          <p:nvPr/>
        </p:nvSpPr>
        <p:spPr>
          <a:xfrm>
            <a:off x="6473952" y="4791456"/>
            <a:ext cx="4754880" cy="420624"/>
          </a:xfrm>
          <a:prstGeom prst="roundRect">
            <a:avLst>
              <a:gd name="adj" fmla="val 10870"/>
            </a:avLst>
          </a:prstGeom>
          <a:solidFill>
            <a:srgbClr val="12221B"/>
          </a:solidFill>
          <a:ln w="12700">
            <a:solidFill>
              <a:srgbClr val="1A3324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565392" y="48280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/mcp</a:t>
            </a:r>
            <a:endParaRPr lang="en-US" sz="820" dirty="0"/>
          </a:p>
        </p:txBody>
      </p:sp>
      <p:sp>
        <p:nvSpPr>
          <p:cNvPr id="54" name="Text 51"/>
          <p:cNvSpPr/>
          <p:nvPr/>
        </p:nvSpPr>
        <p:spPr>
          <a:xfrm>
            <a:off x="8595360" y="4828032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BA8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GitHub, Supabase ve Vercel MCP araçlarını bağlar</a:t>
            </a:r>
            <a:endParaRPr lang="en-US" sz="820" dirty="0"/>
          </a:p>
        </p:txBody>
      </p:sp>
      <p:sp>
        <p:nvSpPr>
          <p:cNvPr id="55" name="Shape 52"/>
          <p:cNvSpPr/>
          <p:nvPr/>
        </p:nvSpPr>
        <p:spPr>
          <a:xfrm>
            <a:off x="731520" y="5596128"/>
            <a:ext cx="10728655" cy="713232"/>
          </a:xfrm>
          <a:prstGeom prst="roundRect">
            <a:avLst>
              <a:gd name="adj" fmla="val 10256"/>
            </a:avLst>
          </a:prstGeom>
          <a:solidFill>
            <a:srgbClr val="102218"/>
          </a:solidFill>
          <a:ln w="19050">
            <a:solidFill>
              <a:srgbClr val="00EB96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60120" y="5650992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B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YÖNETİM KURULU SONUÇ: T Bot V2 ile Kurumsal Yazılım Mühendisliğinde Yeni Çağ</a:t>
            </a:r>
            <a:endParaRPr lang="en-US" sz="1050" dirty="0"/>
          </a:p>
        </p:txBody>
      </p:sp>
      <p:sp>
        <p:nvSpPr>
          <p:cNvPr id="57" name="Text 54"/>
          <p:cNvSpPr/>
          <p:nvPr/>
        </p:nvSpPr>
        <p:spPr>
          <a:xfrm>
            <a:off x="960120" y="5907024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F2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Sıfır ek sunucu maliyeti, %50–%75 net token tasarrufu, deterministik anti-halüsinasyon koruması ve cepten yönetim imkânıyla kurumunuzun mühendislik hızını hemen bugün 5 katına çıkarın.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Tabit Bilişim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 Bot V2 Yönetim Kurulu Sunumu</dc:title>
  <dc:subject>Tri-Core Kurumsal Yapay Zeka Mühendislik Platformu</dc:subject>
  <dc:creator>PptxGenJS</dc:creator>
  <cp:lastModifiedBy>PptxGenJS</cp:lastModifiedBy>
  <cp:revision>1</cp:revision>
  <dcterms:created xsi:type="dcterms:W3CDTF">2026-10-27T05:25:27Z</dcterms:created>
  <dcterms:modified xsi:type="dcterms:W3CDTF">2026-10-27T05:25:27Z</dcterms:modified>
</cp:coreProperties>
</file>